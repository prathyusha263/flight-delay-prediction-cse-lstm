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75" r:id="rId6"/>
    <p:sldId id="271" r:id="rId7"/>
    <p:sldId id="262" r:id="rId8"/>
    <p:sldId id="276" r:id="rId9"/>
    <p:sldId id="264" r:id="rId10"/>
    <p:sldId id="265" r:id="rId11"/>
    <p:sldId id="267" r:id="rId12"/>
    <p:sldId id="274" r:id="rId13"/>
    <p:sldId id="277" r:id="rId14"/>
    <p:sldId id="268" r:id="rId15"/>
    <p:sldId id="272"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ata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5D4083-6FE6-4E2C-9359-A616E0802C77}"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AE5A4DDD-8B5B-46EF-9677-B275C3798C40}">
      <dgm:prSet/>
      <dgm:spPr/>
      <dgm:t>
        <a:bodyPr/>
        <a:lstStyle/>
        <a:p>
          <a:r>
            <a:rPr lang="en-US" b="1" dirty="0"/>
            <a:t>– Goal</a:t>
          </a:r>
          <a:br>
            <a:rPr lang="en-US" dirty="0"/>
          </a:br>
          <a:r>
            <a:rPr lang="en-US" dirty="0"/>
            <a:t>Our goal is to predict whether a flight will be delayed by more than 15 minutes at arrival.</a:t>
          </a:r>
        </a:p>
      </dgm:t>
    </dgm:pt>
    <dgm:pt modelId="{F88EB4C8-9683-46C3-AEF4-F4EE3946F779}" type="parTrans" cxnId="{B30B27DE-4137-4B48-AC55-096BAD277EB0}">
      <dgm:prSet/>
      <dgm:spPr/>
      <dgm:t>
        <a:bodyPr/>
        <a:lstStyle/>
        <a:p>
          <a:endParaRPr lang="en-US"/>
        </a:p>
      </dgm:t>
    </dgm:pt>
    <dgm:pt modelId="{BD875FA3-9EC8-42AF-8754-CFADF13C0054}" type="sibTrans" cxnId="{B30B27DE-4137-4B48-AC55-096BAD277EB0}">
      <dgm:prSet/>
      <dgm:spPr/>
      <dgm:t>
        <a:bodyPr/>
        <a:lstStyle/>
        <a:p>
          <a:endParaRPr lang="en-US"/>
        </a:p>
      </dgm:t>
    </dgm:pt>
    <dgm:pt modelId="{B6061E80-B491-45E0-9A19-92A49E9CB7B7}">
      <dgm:prSet/>
      <dgm:spPr/>
      <dgm:t>
        <a:bodyPr/>
        <a:lstStyle/>
        <a:p>
          <a:r>
            <a:rPr lang="en-US" b="1" dirty="0"/>
            <a:t>– Type of Problem</a:t>
          </a:r>
          <a:br>
            <a:rPr lang="en-US" dirty="0"/>
          </a:br>
          <a:r>
            <a:rPr lang="en-US" dirty="0"/>
            <a:t>We model this as a binary classification problem, where label 0 represents an on-time flight and label 1 represents a flight that is delayed by more than 15 minutes.</a:t>
          </a:r>
        </a:p>
      </dgm:t>
    </dgm:pt>
    <dgm:pt modelId="{5841A1FC-2D90-42A7-9C21-4570CB245C13}" type="parTrans" cxnId="{34CB899B-DB9E-47E8-A0E5-832C6D38F50A}">
      <dgm:prSet/>
      <dgm:spPr/>
      <dgm:t>
        <a:bodyPr/>
        <a:lstStyle/>
        <a:p>
          <a:endParaRPr lang="en-US"/>
        </a:p>
      </dgm:t>
    </dgm:pt>
    <dgm:pt modelId="{D457161E-9765-4FDD-980A-88856B4DCA83}" type="sibTrans" cxnId="{34CB899B-DB9E-47E8-A0E5-832C6D38F50A}">
      <dgm:prSet/>
      <dgm:spPr/>
      <dgm:t>
        <a:bodyPr/>
        <a:lstStyle/>
        <a:p>
          <a:endParaRPr lang="en-US"/>
        </a:p>
      </dgm:t>
    </dgm:pt>
    <dgm:pt modelId="{9FF5CC76-EF14-412D-9AAE-0743348C6869}">
      <dgm:prSet/>
      <dgm:spPr/>
      <dgm:t>
        <a:bodyPr/>
        <a:lstStyle/>
        <a:p>
          <a:r>
            <a:rPr lang="en-US" b="1" dirty="0"/>
            <a:t>– Inputs (Pre-Departure Only)</a:t>
          </a:r>
          <a:br>
            <a:rPr lang="en-US" dirty="0"/>
          </a:br>
          <a:r>
            <a:rPr lang="en-US" dirty="0"/>
            <a:t>We use only pre-departure information as input features, including the marketing airline, the origin and destination airports, the month and day of week, the scheduled departure time converted to minutes, and the flight distance.</a:t>
          </a:r>
        </a:p>
      </dgm:t>
    </dgm:pt>
    <dgm:pt modelId="{22A7470D-B4D2-4723-B09A-BEA61F095D8F}" type="parTrans" cxnId="{C194D679-4A78-46BB-91E5-E9AC6D50EB94}">
      <dgm:prSet/>
      <dgm:spPr/>
      <dgm:t>
        <a:bodyPr/>
        <a:lstStyle/>
        <a:p>
          <a:endParaRPr lang="en-US"/>
        </a:p>
      </dgm:t>
    </dgm:pt>
    <dgm:pt modelId="{4A51AD03-F060-4F64-A8C1-B2A9CEA670F9}" type="sibTrans" cxnId="{C194D679-4A78-46BB-91E5-E9AC6D50EB94}">
      <dgm:prSet/>
      <dgm:spPr/>
      <dgm:t>
        <a:bodyPr/>
        <a:lstStyle/>
        <a:p>
          <a:endParaRPr lang="en-US"/>
        </a:p>
      </dgm:t>
    </dgm:pt>
    <dgm:pt modelId="{4202BA7E-FE4A-4116-955B-53CFF3516989}">
      <dgm:prSet/>
      <dgm:spPr/>
      <dgm:t>
        <a:bodyPr/>
        <a:lstStyle/>
        <a:p>
          <a:r>
            <a:rPr lang="en-US" b="1" dirty="0"/>
            <a:t>– Data Challenge</a:t>
          </a:r>
          <a:br>
            <a:rPr lang="en-US" dirty="0"/>
          </a:br>
          <a:r>
            <a:rPr lang="en-US" dirty="0"/>
            <a:t>The data are imbalanced, because most flights in the dataset arrive on time and only a smaller portion are delayed.</a:t>
          </a:r>
        </a:p>
      </dgm:t>
    </dgm:pt>
    <dgm:pt modelId="{2C2BFA7E-5CEA-493D-9F71-C49F10032924}" type="parTrans" cxnId="{C46538F3-B26E-4CBC-ABF4-9846FB2DB8BF}">
      <dgm:prSet/>
      <dgm:spPr/>
      <dgm:t>
        <a:bodyPr/>
        <a:lstStyle/>
        <a:p>
          <a:endParaRPr lang="en-US"/>
        </a:p>
      </dgm:t>
    </dgm:pt>
    <dgm:pt modelId="{96431565-ECBC-4A30-8558-C8E49B553EB1}" type="sibTrans" cxnId="{C46538F3-B26E-4CBC-ABF4-9846FB2DB8BF}">
      <dgm:prSet/>
      <dgm:spPr/>
      <dgm:t>
        <a:bodyPr/>
        <a:lstStyle/>
        <a:p>
          <a:endParaRPr lang="en-US"/>
        </a:p>
      </dgm:t>
    </dgm:pt>
    <dgm:pt modelId="{F84C171C-C711-4EC9-A92E-DA1AD2C667AD}">
      <dgm:prSet/>
      <dgm:spPr/>
      <dgm:t>
        <a:bodyPr/>
        <a:lstStyle/>
        <a:p>
          <a:r>
            <a:rPr lang="en-US" b="1" dirty="0"/>
            <a:t> – Modeling Challenge</a:t>
          </a:r>
          <a:br>
            <a:rPr lang="en-US" dirty="0"/>
          </a:br>
          <a:r>
            <a:rPr lang="en-US" dirty="0"/>
            <a:t>Delay behavior varies by route, airline, season, and time of day, which makes the prediction task more difficult for a single global model.</a:t>
          </a:r>
        </a:p>
      </dgm:t>
    </dgm:pt>
    <dgm:pt modelId="{72FECCBE-C176-413B-A7DB-732F7B0D466E}" type="parTrans" cxnId="{C2D154E5-41EF-4B9C-8F54-647477F23E2D}">
      <dgm:prSet/>
      <dgm:spPr/>
      <dgm:t>
        <a:bodyPr/>
        <a:lstStyle/>
        <a:p>
          <a:endParaRPr lang="en-US"/>
        </a:p>
      </dgm:t>
    </dgm:pt>
    <dgm:pt modelId="{26E2686C-A641-4BAE-8D2F-35F113DF31C8}" type="sibTrans" cxnId="{C2D154E5-41EF-4B9C-8F54-647477F23E2D}">
      <dgm:prSet/>
      <dgm:spPr/>
      <dgm:t>
        <a:bodyPr/>
        <a:lstStyle/>
        <a:p>
          <a:endParaRPr lang="en-US"/>
        </a:p>
      </dgm:t>
    </dgm:pt>
    <dgm:pt modelId="{D3965810-2B90-4C0C-BBA7-A4A49FBAE249}" type="pres">
      <dgm:prSet presAssocID="{A25D4083-6FE6-4E2C-9359-A616E0802C77}" presName="diagram" presStyleCnt="0">
        <dgm:presLayoutVars>
          <dgm:dir/>
          <dgm:resizeHandles val="exact"/>
        </dgm:presLayoutVars>
      </dgm:prSet>
      <dgm:spPr/>
    </dgm:pt>
    <dgm:pt modelId="{A7C2E361-AA4F-4D0B-ABA5-77FCCE913CAE}" type="pres">
      <dgm:prSet presAssocID="{AE5A4DDD-8B5B-46EF-9677-B275C3798C40}" presName="node" presStyleLbl="node1" presStyleIdx="0" presStyleCnt="5" custScaleX="90141" custScaleY="59419">
        <dgm:presLayoutVars>
          <dgm:bulletEnabled val="1"/>
        </dgm:presLayoutVars>
      </dgm:prSet>
      <dgm:spPr/>
    </dgm:pt>
    <dgm:pt modelId="{145760EE-DB24-4ED9-8B51-BCD552C34EB5}" type="pres">
      <dgm:prSet presAssocID="{BD875FA3-9EC8-42AF-8754-CFADF13C0054}" presName="sibTrans" presStyleCnt="0"/>
      <dgm:spPr/>
    </dgm:pt>
    <dgm:pt modelId="{2E8ED8B9-AB10-4806-9FD9-CDB64441495E}" type="pres">
      <dgm:prSet presAssocID="{B6061E80-B491-45E0-9A19-92A49E9CB7B7}" presName="node" presStyleLbl="node1" presStyleIdx="1" presStyleCnt="5">
        <dgm:presLayoutVars>
          <dgm:bulletEnabled val="1"/>
        </dgm:presLayoutVars>
      </dgm:prSet>
      <dgm:spPr/>
    </dgm:pt>
    <dgm:pt modelId="{C51693C9-8FDC-4896-8D28-CB894ACB6669}" type="pres">
      <dgm:prSet presAssocID="{D457161E-9765-4FDD-980A-88856B4DCA83}" presName="sibTrans" presStyleCnt="0"/>
      <dgm:spPr/>
    </dgm:pt>
    <dgm:pt modelId="{2C048EC1-F42D-42B8-878A-D7E4E8A8CAFE}" type="pres">
      <dgm:prSet presAssocID="{9FF5CC76-EF14-412D-9AAE-0743348C6869}" presName="node" presStyleLbl="node1" presStyleIdx="2" presStyleCnt="5">
        <dgm:presLayoutVars>
          <dgm:bulletEnabled val="1"/>
        </dgm:presLayoutVars>
      </dgm:prSet>
      <dgm:spPr/>
    </dgm:pt>
    <dgm:pt modelId="{40005346-CC1D-45FA-851E-917DE8570A46}" type="pres">
      <dgm:prSet presAssocID="{4A51AD03-F060-4F64-A8C1-B2A9CEA670F9}" presName="sibTrans" presStyleCnt="0"/>
      <dgm:spPr/>
    </dgm:pt>
    <dgm:pt modelId="{62C2BAAA-71CB-4A61-98A9-DCABC9A8492C}" type="pres">
      <dgm:prSet presAssocID="{4202BA7E-FE4A-4116-955B-53CFF3516989}" presName="node" presStyleLbl="node1" presStyleIdx="3" presStyleCnt="5" custScaleX="94934" custScaleY="64138">
        <dgm:presLayoutVars>
          <dgm:bulletEnabled val="1"/>
        </dgm:presLayoutVars>
      </dgm:prSet>
      <dgm:spPr/>
    </dgm:pt>
    <dgm:pt modelId="{D1FCA09F-8F40-4DD7-9B7A-0F32D9556029}" type="pres">
      <dgm:prSet presAssocID="{96431565-ECBC-4A30-8558-C8E49B553EB1}" presName="sibTrans" presStyleCnt="0"/>
      <dgm:spPr/>
    </dgm:pt>
    <dgm:pt modelId="{EC6FCAA6-920E-47A8-9F35-F107DF25C37A}" type="pres">
      <dgm:prSet presAssocID="{F84C171C-C711-4EC9-A92E-DA1AD2C667AD}" presName="node" presStyleLbl="node1" presStyleIdx="4" presStyleCnt="5">
        <dgm:presLayoutVars>
          <dgm:bulletEnabled val="1"/>
        </dgm:presLayoutVars>
      </dgm:prSet>
      <dgm:spPr/>
    </dgm:pt>
  </dgm:ptLst>
  <dgm:cxnLst>
    <dgm:cxn modelId="{D918CF3C-5F72-4C36-A4B2-E6DF9AF3D362}" type="presOf" srcId="{4202BA7E-FE4A-4116-955B-53CFF3516989}" destId="{62C2BAAA-71CB-4A61-98A9-DCABC9A8492C}" srcOrd="0" destOrd="0" presId="urn:microsoft.com/office/officeart/2005/8/layout/default"/>
    <dgm:cxn modelId="{DEEC4B3F-5E25-4648-B879-74962C0D861D}" type="presOf" srcId="{A25D4083-6FE6-4E2C-9359-A616E0802C77}" destId="{D3965810-2B90-4C0C-BBA7-A4A49FBAE249}" srcOrd="0" destOrd="0" presId="urn:microsoft.com/office/officeart/2005/8/layout/default"/>
    <dgm:cxn modelId="{11DE5B46-4D17-4BDC-97F6-36C918D18504}" type="presOf" srcId="{B6061E80-B491-45E0-9A19-92A49E9CB7B7}" destId="{2E8ED8B9-AB10-4806-9FD9-CDB64441495E}" srcOrd="0" destOrd="0" presId="urn:microsoft.com/office/officeart/2005/8/layout/default"/>
    <dgm:cxn modelId="{C194D679-4A78-46BB-91E5-E9AC6D50EB94}" srcId="{A25D4083-6FE6-4E2C-9359-A616E0802C77}" destId="{9FF5CC76-EF14-412D-9AAE-0743348C6869}" srcOrd="2" destOrd="0" parTransId="{22A7470D-B4D2-4723-B09A-BEA61F095D8F}" sibTransId="{4A51AD03-F060-4F64-A8C1-B2A9CEA670F9}"/>
    <dgm:cxn modelId="{FB803A8B-BD4D-4F67-9FD4-0BDB52C021BD}" type="presOf" srcId="{AE5A4DDD-8B5B-46EF-9677-B275C3798C40}" destId="{A7C2E361-AA4F-4D0B-ABA5-77FCCE913CAE}" srcOrd="0" destOrd="0" presId="urn:microsoft.com/office/officeart/2005/8/layout/default"/>
    <dgm:cxn modelId="{BD590394-5461-485E-B006-3304E6AEE39F}" type="presOf" srcId="{9FF5CC76-EF14-412D-9AAE-0743348C6869}" destId="{2C048EC1-F42D-42B8-878A-D7E4E8A8CAFE}" srcOrd="0" destOrd="0" presId="urn:microsoft.com/office/officeart/2005/8/layout/default"/>
    <dgm:cxn modelId="{34CB899B-DB9E-47E8-A0E5-832C6D38F50A}" srcId="{A25D4083-6FE6-4E2C-9359-A616E0802C77}" destId="{B6061E80-B491-45E0-9A19-92A49E9CB7B7}" srcOrd="1" destOrd="0" parTransId="{5841A1FC-2D90-42A7-9C21-4570CB245C13}" sibTransId="{D457161E-9765-4FDD-980A-88856B4DCA83}"/>
    <dgm:cxn modelId="{7D6209BE-2BDC-486B-852C-405A5069654C}" type="presOf" srcId="{F84C171C-C711-4EC9-A92E-DA1AD2C667AD}" destId="{EC6FCAA6-920E-47A8-9F35-F107DF25C37A}" srcOrd="0" destOrd="0" presId="urn:microsoft.com/office/officeart/2005/8/layout/default"/>
    <dgm:cxn modelId="{B30B27DE-4137-4B48-AC55-096BAD277EB0}" srcId="{A25D4083-6FE6-4E2C-9359-A616E0802C77}" destId="{AE5A4DDD-8B5B-46EF-9677-B275C3798C40}" srcOrd="0" destOrd="0" parTransId="{F88EB4C8-9683-46C3-AEF4-F4EE3946F779}" sibTransId="{BD875FA3-9EC8-42AF-8754-CFADF13C0054}"/>
    <dgm:cxn modelId="{C2D154E5-41EF-4B9C-8F54-647477F23E2D}" srcId="{A25D4083-6FE6-4E2C-9359-A616E0802C77}" destId="{F84C171C-C711-4EC9-A92E-DA1AD2C667AD}" srcOrd="4" destOrd="0" parTransId="{72FECCBE-C176-413B-A7DB-732F7B0D466E}" sibTransId="{26E2686C-A641-4BAE-8D2F-35F113DF31C8}"/>
    <dgm:cxn modelId="{C46538F3-B26E-4CBC-ABF4-9846FB2DB8BF}" srcId="{A25D4083-6FE6-4E2C-9359-A616E0802C77}" destId="{4202BA7E-FE4A-4116-955B-53CFF3516989}" srcOrd="3" destOrd="0" parTransId="{2C2BFA7E-5CEA-493D-9F71-C49F10032924}" sibTransId="{96431565-ECBC-4A30-8558-C8E49B553EB1}"/>
    <dgm:cxn modelId="{42D6965E-8BC9-4BF1-BE07-4B9337B8BB49}" type="presParOf" srcId="{D3965810-2B90-4C0C-BBA7-A4A49FBAE249}" destId="{A7C2E361-AA4F-4D0B-ABA5-77FCCE913CAE}" srcOrd="0" destOrd="0" presId="urn:microsoft.com/office/officeart/2005/8/layout/default"/>
    <dgm:cxn modelId="{16D38AE1-D177-45BD-9B1A-9E24A6AF77C8}" type="presParOf" srcId="{D3965810-2B90-4C0C-BBA7-A4A49FBAE249}" destId="{145760EE-DB24-4ED9-8B51-BCD552C34EB5}" srcOrd="1" destOrd="0" presId="urn:microsoft.com/office/officeart/2005/8/layout/default"/>
    <dgm:cxn modelId="{44C03999-36F0-4EAC-B74D-8081ED9170DA}" type="presParOf" srcId="{D3965810-2B90-4C0C-BBA7-A4A49FBAE249}" destId="{2E8ED8B9-AB10-4806-9FD9-CDB64441495E}" srcOrd="2" destOrd="0" presId="urn:microsoft.com/office/officeart/2005/8/layout/default"/>
    <dgm:cxn modelId="{3D82FB37-0E89-4549-AAAB-EFFF1BBBC433}" type="presParOf" srcId="{D3965810-2B90-4C0C-BBA7-A4A49FBAE249}" destId="{C51693C9-8FDC-4896-8D28-CB894ACB6669}" srcOrd="3" destOrd="0" presId="urn:microsoft.com/office/officeart/2005/8/layout/default"/>
    <dgm:cxn modelId="{4EB3669A-9FAF-4288-A5C1-6EF3C1442681}" type="presParOf" srcId="{D3965810-2B90-4C0C-BBA7-A4A49FBAE249}" destId="{2C048EC1-F42D-42B8-878A-D7E4E8A8CAFE}" srcOrd="4" destOrd="0" presId="urn:microsoft.com/office/officeart/2005/8/layout/default"/>
    <dgm:cxn modelId="{9B02A4F6-A4DE-4026-B1D0-CF001CDDDFBF}" type="presParOf" srcId="{D3965810-2B90-4C0C-BBA7-A4A49FBAE249}" destId="{40005346-CC1D-45FA-851E-917DE8570A46}" srcOrd="5" destOrd="0" presId="urn:microsoft.com/office/officeart/2005/8/layout/default"/>
    <dgm:cxn modelId="{FC1DB317-6CD1-4553-A1DC-E3BD3DB9EDF1}" type="presParOf" srcId="{D3965810-2B90-4C0C-BBA7-A4A49FBAE249}" destId="{62C2BAAA-71CB-4A61-98A9-DCABC9A8492C}" srcOrd="6" destOrd="0" presId="urn:microsoft.com/office/officeart/2005/8/layout/default"/>
    <dgm:cxn modelId="{224D712F-317D-4A3E-A68F-4700D9E86A7A}" type="presParOf" srcId="{D3965810-2B90-4C0C-BBA7-A4A49FBAE249}" destId="{D1FCA09F-8F40-4DD7-9B7A-0F32D9556029}" srcOrd="7" destOrd="0" presId="urn:microsoft.com/office/officeart/2005/8/layout/default"/>
    <dgm:cxn modelId="{880F3E33-DD01-4C31-BF8F-70F2DFDB7788}" type="presParOf" srcId="{D3965810-2B90-4C0C-BBA7-A4A49FBAE249}" destId="{EC6FCAA6-920E-47A8-9F35-F107DF25C37A}"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EA7DCC-40B8-46C6-912B-4A591B90DA36}"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EE45A484-AB77-4E00-8295-048E4E23083B}">
      <dgm:prSet/>
      <dgm:spPr/>
      <dgm:t>
        <a:bodyPr/>
        <a:lstStyle/>
        <a:p>
          <a:r>
            <a:rPr lang="en-US" b="0" i="0" baseline="0" dirty="0"/>
            <a:t>Load and clean Kaggle flight delay data.</a:t>
          </a:r>
          <a:endParaRPr lang="en-US" dirty="0"/>
        </a:p>
      </dgm:t>
    </dgm:pt>
    <dgm:pt modelId="{F76AF68D-E3B6-43E5-A33E-78577E193CA6}" type="parTrans" cxnId="{5F633E4E-9C43-45DE-B0D9-6E96A95CCC49}">
      <dgm:prSet/>
      <dgm:spPr/>
      <dgm:t>
        <a:bodyPr/>
        <a:lstStyle/>
        <a:p>
          <a:endParaRPr lang="en-US"/>
        </a:p>
      </dgm:t>
    </dgm:pt>
    <dgm:pt modelId="{EBC25AD0-8AFA-4031-8BE9-F957E1CB78C4}" type="sibTrans" cxnId="{5F633E4E-9C43-45DE-B0D9-6E96A95CCC49}">
      <dgm:prSet/>
      <dgm:spPr/>
      <dgm:t>
        <a:bodyPr/>
        <a:lstStyle/>
        <a:p>
          <a:endParaRPr lang="en-US"/>
        </a:p>
      </dgm:t>
    </dgm:pt>
    <dgm:pt modelId="{E16460EC-AF70-433D-AFE8-5F62F742AF25}">
      <dgm:prSet/>
      <dgm:spPr/>
      <dgm:t>
        <a:bodyPr/>
        <a:lstStyle/>
        <a:p>
          <a:r>
            <a:rPr lang="en-US" b="0" i="0" baseline="0"/>
            <a:t>Engineer pre-departure features (Month, DayOfWeek, CRSDepMinutes, Distance, Origin, Dest, Airline).</a:t>
          </a:r>
          <a:endParaRPr lang="en-US"/>
        </a:p>
      </dgm:t>
    </dgm:pt>
    <dgm:pt modelId="{9A5CBC6D-0E9E-4FF8-B795-0F568833BF80}" type="parTrans" cxnId="{60F60BCF-C24E-4CF7-B077-71F78E3B1006}">
      <dgm:prSet/>
      <dgm:spPr/>
      <dgm:t>
        <a:bodyPr/>
        <a:lstStyle/>
        <a:p>
          <a:endParaRPr lang="en-US"/>
        </a:p>
      </dgm:t>
    </dgm:pt>
    <dgm:pt modelId="{5B08B455-4B5D-4E42-9ED3-87ADFD412B86}" type="sibTrans" cxnId="{60F60BCF-C24E-4CF7-B077-71F78E3B1006}">
      <dgm:prSet/>
      <dgm:spPr/>
      <dgm:t>
        <a:bodyPr/>
        <a:lstStyle/>
        <a:p>
          <a:endParaRPr lang="en-US"/>
        </a:p>
      </dgm:t>
    </dgm:pt>
    <dgm:pt modelId="{9271DC08-6C96-4956-B853-71B90218D975}">
      <dgm:prSet/>
      <dgm:spPr/>
      <dgm:t>
        <a:bodyPr/>
        <a:lstStyle/>
        <a:p>
          <a:r>
            <a:rPr lang="en-US" b="0" i="0" baseline="0" dirty="0"/>
            <a:t>Apply shared preprocessing (impute, scale numeric, one-hot encode categorical).</a:t>
          </a:r>
          <a:endParaRPr lang="en-US" dirty="0"/>
        </a:p>
      </dgm:t>
    </dgm:pt>
    <dgm:pt modelId="{60C8A884-DFBC-450E-954D-08832EE9C868}" type="parTrans" cxnId="{0A7683BA-1895-4520-8DB5-19867E66AEEE}">
      <dgm:prSet/>
      <dgm:spPr/>
      <dgm:t>
        <a:bodyPr/>
        <a:lstStyle/>
        <a:p>
          <a:endParaRPr lang="en-US"/>
        </a:p>
      </dgm:t>
    </dgm:pt>
    <dgm:pt modelId="{2F538519-326A-4292-83D2-BC66CD967E42}" type="sibTrans" cxnId="{0A7683BA-1895-4520-8DB5-19867E66AEEE}">
      <dgm:prSet/>
      <dgm:spPr/>
      <dgm:t>
        <a:bodyPr/>
        <a:lstStyle/>
        <a:p>
          <a:endParaRPr lang="en-US"/>
        </a:p>
      </dgm:t>
    </dgm:pt>
    <dgm:pt modelId="{15AEEAF9-C7A1-43BB-B5D5-8DCEE60BD956}">
      <dgm:prSet/>
      <dgm:spPr/>
      <dgm:t>
        <a:bodyPr/>
        <a:lstStyle/>
        <a:p>
          <a:r>
            <a:rPr lang="en-US" b="0" i="0" baseline="0"/>
            <a:t>Split into 80% train / 20% test (stratified).</a:t>
          </a:r>
          <a:endParaRPr lang="en-US"/>
        </a:p>
      </dgm:t>
    </dgm:pt>
    <dgm:pt modelId="{F4FF7B14-7488-4E1E-8FFC-CBB8008D78F8}" type="parTrans" cxnId="{45D14CEE-501C-4640-8A3B-A3D11279DB71}">
      <dgm:prSet/>
      <dgm:spPr/>
      <dgm:t>
        <a:bodyPr/>
        <a:lstStyle/>
        <a:p>
          <a:endParaRPr lang="en-US"/>
        </a:p>
      </dgm:t>
    </dgm:pt>
    <dgm:pt modelId="{FF7BA3F1-1836-4D80-9186-8BD076233AAC}" type="sibTrans" cxnId="{45D14CEE-501C-4640-8A3B-A3D11279DB71}">
      <dgm:prSet/>
      <dgm:spPr/>
      <dgm:t>
        <a:bodyPr/>
        <a:lstStyle/>
        <a:p>
          <a:endParaRPr lang="en-US"/>
        </a:p>
      </dgm:t>
    </dgm:pt>
    <dgm:pt modelId="{F0E8F385-E3E5-4CD8-B2F6-5F83DEBD037D}">
      <dgm:prSet/>
      <dgm:spPr/>
      <dgm:t>
        <a:bodyPr/>
        <a:lstStyle/>
        <a:p>
          <a:r>
            <a:rPr lang="en-US" b="0" i="0" baseline="0"/>
            <a:t>Train global models (Dummy, LR, DT, RF, SVM) </a:t>
          </a:r>
          <a:r>
            <a:rPr lang="en-US" b="1" i="0" baseline="0"/>
            <a:t>and a simple LSTM neural network on the same preprocessed features</a:t>
          </a:r>
          <a:r>
            <a:rPr lang="en-US" b="0" i="0" baseline="0"/>
            <a:t>.</a:t>
          </a:r>
          <a:endParaRPr lang="en-US"/>
        </a:p>
      </dgm:t>
    </dgm:pt>
    <dgm:pt modelId="{3B65D95C-E5C5-4482-9DC7-0B468F2D2DCF}" type="parTrans" cxnId="{E30CCE98-18DB-4C85-A3AC-8F8106EA12D9}">
      <dgm:prSet/>
      <dgm:spPr/>
      <dgm:t>
        <a:bodyPr/>
        <a:lstStyle/>
        <a:p>
          <a:endParaRPr lang="en-US"/>
        </a:p>
      </dgm:t>
    </dgm:pt>
    <dgm:pt modelId="{5F392AC2-FE57-461B-9DD1-F89274E89BBA}" type="sibTrans" cxnId="{E30CCE98-18DB-4C85-A3AC-8F8106EA12D9}">
      <dgm:prSet/>
      <dgm:spPr/>
      <dgm:t>
        <a:bodyPr/>
        <a:lstStyle/>
        <a:p>
          <a:endParaRPr lang="en-US"/>
        </a:p>
      </dgm:t>
    </dgm:pt>
    <dgm:pt modelId="{928D8BAA-7409-43B5-B8A4-4B1D5D001E92}">
      <dgm:prSet/>
      <dgm:spPr/>
      <dgm:t>
        <a:bodyPr/>
        <a:lstStyle/>
        <a:p>
          <a:r>
            <a:rPr lang="en-US" b="0" i="0" baseline="0"/>
            <a:t>Build Cluster-Specific Ensemble (k-means on Month/DayOfWeek/time/distance + RF per cluster).</a:t>
          </a:r>
          <a:endParaRPr lang="en-US"/>
        </a:p>
      </dgm:t>
    </dgm:pt>
    <dgm:pt modelId="{90F8F95A-0196-401A-A5E3-D94E490FB066}" type="parTrans" cxnId="{1B49B1BA-7B03-441D-A0B9-997E50B848AE}">
      <dgm:prSet/>
      <dgm:spPr/>
      <dgm:t>
        <a:bodyPr/>
        <a:lstStyle/>
        <a:p>
          <a:endParaRPr lang="en-US"/>
        </a:p>
      </dgm:t>
    </dgm:pt>
    <dgm:pt modelId="{AFC9FF3E-185C-4489-9DEA-AD9A1B6EF2F3}" type="sibTrans" cxnId="{1B49B1BA-7B03-441D-A0B9-997E50B848AE}">
      <dgm:prSet/>
      <dgm:spPr/>
      <dgm:t>
        <a:bodyPr/>
        <a:lstStyle/>
        <a:p>
          <a:endParaRPr lang="en-US"/>
        </a:p>
      </dgm:t>
    </dgm:pt>
    <dgm:pt modelId="{31B11887-AB99-4C20-A9F6-25F92C222C68}">
      <dgm:prSet/>
      <dgm:spPr/>
      <dgm:t>
        <a:bodyPr/>
        <a:lstStyle/>
        <a:p>
          <a:r>
            <a:rPr lang="en-US" b="0" i="0" baseline="0"/>
            <a:t>Evaluate RF, CSE, and LSTM on the test set and compare metrics.</a:t>
          </a:r>
          <a:endParaRPr lang="en-US"/>
        </a:p>
      </dgm:t>
    </dgm:pt>
    <dgm:pt modelId="{F43D7841-3D49-4DC5-9FE4-0BBC0E9DE326}" type="parTrans" cxnId="{18D32D96-F0F1-4743-8B39-8B34B147ABD8}">
      <dgm:prSet/>
      <dgm:spPr/>
      <dgm:t>
        <a:bodyPr/>
        <a:lstStyle/>
        <a:p>
          <a:endParaRPr lang="en-US"/>
        </a:p>
      </dgm:t>
    </dgm:pt>
    <dgm:pt modelId="{ACFD0525-63BD-4694-B9E0-8FCD2F41346A}" type="sibTrans" cxnId="{18D32D96-F0F1-4743-8B39-8B34B147ABD8}">
      <dgm:prSet/>
      <dgm:spPr/>
      <dgm:t>
        <a:bodyPr/>
        <a:lstStyle/>
        <a:p>
          <a:endParaRPr lang="en-US"/>
        </a:p>
      </dgm:t>
    </dgm:pt>
    <dgm:pt modelId="{BFF006E2-5C9C-418F-A9C9-C4F8C988AE2C}" type="pres">
      <dgm:prSet presAssocID="{2FEA7DCC-40B8-46C6-912B-4A591B90DA36}" presName="Name0" presStyleCnt="0">
        <dgm:presLayoutVars>
          <dgm:dir/>
          <dgm:resizeHandles val="exact"/>
        </dgm:presLayoutVars>
      </dgm:prSet>
      <dgm:spPr/>
    </dgm:pt>
    <dgm:pt modelId="{EBDA0467-E0A0-46AC-994B-461E80C95583}" type="pres">
      <dgm:prSet presAssocID="{EE45A484-AB77-4E00-8295-048E4E23083B}" presName="node" presStyleLbl="node1" presStyleIdx="0" presStyleCnt="7">
        <dgm:presLayoutVars>
          <dgm:bulletEnabled val="1"/>
        </dgm:presLayoutVars>
      </dgm:prSet>
      <dgm:spPr/>
    </dgm:pt>
    <dgm:pt modelId="{5B1B9022-6EBC-4D6B-9A69-F3B6FFCB8725}" type="pres">
      <dgm:prSet presAssocID="{EBC25AD0-8AFA-4031-8BE9-F957E1CB78C4}" presName="sibTrans" presStyleLbl="sibTrans1D1" presStyleIdx="0" presStyleCnt="6"/>
      <dgm:spPr/>
    </dgm:pt>
    <dgm:pt modelId="{417669C4-D85D-4B7A-8568-3B93EFFBB636}" type="pres">
      <dgm:prSet presAssocID="{EBC25AD0-8AFA-4031-8BE9-F957E1CB78C4}" presName="connectorText" presStyleLbl="sibTrans1D1" presStyleIdx="0" presStyleCnt="6"/>
      <dgm:spPr/>
    </dgm:pt>
    <dgm:pt modelId="{A757842E-D7B6-448F-9AA5-C6D029700341}" type="pres">
      <dgm:prSet presAssocID="{E16460EC-AF70-433D-AFE8-5F62F742AF25}" presName="node" presStyleLbl="node1" presStyleIdx="1" presStyleCnt="7">
        <dgm:presLayoutVars>
          <dgm:bulletEnabled val="1"/>
        </dgm:presLayoutVars>
      </dgm:prSet>
      <dgm:spPr/>
    </dgm:pt>
    <dgm:pt modelId="{5D2A00BE-06F4-4568-92AF-7631DBCD63B6}" type="pres">
      <dgm:prSet presAssocID="{5B08B455-4B5D-4E42-9ED3-87ADFD412B86}" presName="sibTrans" presStyleLbl="sibTrans1D1" presStyleIdx="1" presStyleCnt="6"/>
      <dgm:spPr/>
    </dgm:pt>
    <dgm:pt modelId="{19AA8B3E-DB77-4DE0-A4CB-9178B96C8DBA}" type="pres">
      <dgm:prSet presAssocID="{5B08B455-4B5D-4E42-9ED3-87ADFD412B86}" presName="connectorText" presStyleLbl="sibTrans1D1" presStyleIdx="1" presStyleCnt="6"/>
      <dgm:spPr/>
    </dgm:pt>
    <dgm:pt modelId="{CC5F8984-E862-4BC5-9D58-89CF807384AC}" type="pres">
      <dgm:prSet presAssocID="{9271DC08-6C96-4956-B853-71B90218D975}" presName="node" presStyleLbl="node1" presStyleIdx="2" presStyleCnt="7" custScaleX="108370" custScaleY="88912">
        <dgm:presLayoutVars>
          <dgm:bulletEnabled val="1"/>
        </dgm:presLayoutVars>
      </dgm:prSet>
      <dgm:spPr/>
    </dgm:pt>
    <dgm:pt modelId="{B24F502A-4EBC-4C68-B296-EDC6660DC9A1}" type="pres">
      <dgm:prSet presAssocID="{2F538519-326A-4292-83D2-BC66CD967E42}" presName="sibTrans" presStyleLbl="sibTrans1D1" presStyleIdx="2" presStyleCnt="6"/>
      <dgm:spPr/>
    </dgm:pt>
    <dgm:pt modelId="{AB128F8B-F5C7-44E2-A271-9F703EF7FFC5}" type="pres">
      <dgm:prSet presAssocID="{2F538519-326A-4292-83D2-BC66CD967E42}" presName="connectorText" presStyleLbl="sibTrans1D1" presStyleIdx="2" presStyleCnt="6"/>
      <dgm:spPr/>
    </dgm:pt>
    <dgm:pt modelId="{21503069-A791-4C20-BC6E-6CCD9649DD06}" type="pres">
      <dgm:prSet presAssocID="{15AEEAF9-C7A1-43BB-B5D5-8DCEE60BD956}" presName="node" presStyleLbl="node1" presStyleIdx="3" presStyleCnt="7" custScaleX="110982" custScaleY="123960">
        <dgm:presLayoutVars>
          <dgm:bulletEnabled val="1"/>
        </dgm:presLayoutVars>
      </dgm:prSet>
      <dgm:spPr/>
    </dgm:pt>
    <dgm:pt modelId="{4B77B2C2-2F3C-4916-8486-F8D96B8726AC}" type="pres">
      <dgm:prSet presAssocID="{FF7BA3F1-1836-4D80-9186-8BD076233AAC}" presName="sibTrans" presStyleLbl="sibTrans1D1" presStyleIdx="3" presStyleCnt="6"/>
      <dgm:spPr/>
    </dgm:pt>
    <dgm:pt modelId="{FBE1ACF3-37EF-4BBC-A506-2C5E9E704633}" type="pres">
      <dgm:prSet presAssocID="{FF7BA3F1-1836-4D80-9186-8BD076233AAC}" presName="connectorText" presStyleLbl="sibTrans1D1" presStyleIdx="3" presStyleCnt="6"/>
      <dgm:spPr/>
    </dgm:pt>
    <dgm:pt modelId="{594B74D5-938A-40CD-9E48-148FE2514301}" type="pres">
      <dgm:prSet presAssocID="{F0E8F385-E3E5-4CD8-B2F6-5F83DEBD037D}" presName="node" presStyleLbl="node1" presStyleIdx="4" presStyleCnt="7">
        <dgm:presLayoutVars>
          <dgm:bulletEnabled val="1"/>
        </dgm:presLayoutVars>
      </dgm:prSet>
      <dgm:spPr/>
    </dgm:pt>
    <dgm:pt modelId="{FAE9496F-3E2F-4796-A318-CF5C5B4DEB09}" type="pres">
      <dgm:prSet presAssocID="{5F392AC2-FE57-461B-9DD1-F89274E89BBA}" presName="sibTrans" presStyleLbl="sibTrans1D1" presStyleIdx="4" presStyleCnt="6"/>
      <dgm:spPr/>
    </dgm:pt>
    <dgm:pt modelId="{DB456A2A-D78C-4677-97AB-0D9362C03D6A}" type="pres">
      <dgm:prSet presAssocID="{5F392AC2-FE57-461B-9DD1-F89274E89BBA}" presName="connectorText" presStyleLbl="sibTrans1D1" presStyleIdx="4" presStyleCnt="6"/>
      <dgm:spPr/>
    </dgm:pt>
    <dgm:pt modelId="{450F83EA-C2A2-476F-B33B-55CDB3C220ED}" type="pres">
      <dgm:prSet presAssocID="{928D8BAA-7409-43B5-B8A4-4B1D5D001E92}" presName="node" presStyleLbl="node1" presStyleIdx="5" presStyleCnt="7">
        <dgm:presLayoutVars>
          <dgm:bulletEnabled val="1"/>
        </dgm:presLayoutVars>
      </dgm:prSet>
      <dgm:spPr/>
    </dgm:pt>
    <dgm:pt modelId="{5018E937-4537-47D9-93B1-20633E5FDC1B}" type="pres">
      <dgm:prSet presAssocID="{AFC9FF3E-185C-4489-9DEA-AD9A1B6EF2F3}" presName="sibTrans" presStyleLbl="sibTrans1D1" presStyleIdx="5" presStyleCnt="6"/>
      <dgm:spPr/>
    </dgm:pt>
    <dgm:pt modelId="{41CBF3AA-D135-4E3A-B956-490A2DE1FD7E}" type="pres">
      <dgm:prSet presAssocID="{AFC9FF3E-185C-4489-9DEA-AD9A1B6EF2F3}" presName="connectorText" presStyleLbl="sibTrans1D1" presStyleIdx="5" presStyleCnt="6"/>
      <dgm:spPr/>
    </dgm:pt>
    <dgm:pt modelId="{98AE46E9-6543-42DA-A695-5CEDBCAFAC71}" type="pres">
      <dgm:prSet presAssocID="{31B11887-AB99-4C20-A9F6-25F92C222C68}" presName="node" presStyleLbl="node1" presStyleIdx="6" presStyleCnt="7">
        <dgm:presLayoutVars>
          <dgm:bulletEnabled val="1"/>
        </dgm:presLayoutVars>
      </dgm:prSet>
      <dgm:spPr/>
    </dgm:pt>
  </dgm:ptLst>
  <dgm:cxnLst>
    <dgm:cxn modelId="{04201115-4C89-4052-9F70-7063F016DB14}" type="presOf" srcId="{AFC9FF3E-185C-4489-9DEA-AD9A1B6EF2F3}" destId="{41CBF3AA-D135-4E3A-B956-490A2DE1FD7E}" srcOrd="1" destOrd="0" presId="urn:microsoft.com/office/officeart/2016/7/layout/RepeatingBendingProcessNew"/>
    <dgm:cxn modelId="{CA9A4719-8520-44E0-B05E-7807C372BD06}" type="presOf" srcId="{AFC9FF3E-185C-4489-9DEA-AD9A1B6EF2F3}" destId="{5018E937-4537-47D9-93B1-20633E5FDC1B}" srcOrd="0" destOrd="0" presId="urn:microsoft.com/office/officeart/2016/7/layout/RepeatingBendingProcessNew"/>
    <dgm:cxn modelId="{ECDB3E25-27B0-49D1-972D-93CE160D66D9}" type="presOf" srcId="{9271DC08-6C96-4956-B853-71B90218D975}" destId="{CC5F8984-E862-4BC5-9D58-89CF807384AC}" srcOrd="0" destOrd="0" presId="urn:microsoft.com/office/officeart/2016/7/layout/RepeatingBendingProcessNew"/>
    <dgm:cxn modelId="{0BF2B831-9596-4E58-81F6-AAD1CE99AD36}" type="presOf" srcId="{2FEA7DCC-40B8-46C6-912B-4A591B90DA36}" destId="{BFF006E2-5C9C-418F-A9C9-C4F8C988AE2C}" srcOrd="0" destOrd="0" presId="urn:microsoft.com/office/officeart/2016/7/layout/RepeatingBendingProcessNew"/>
    <dgm:cxn modelId="{4E7A393B-2A13-4B5B-B155-E7D151A9FAFC}" type="presOf" srcId="{FF7BA3F1-1836-4D80-9186-8BD076233AAC}" destId="{FBE1ACF3-37EF-4BBC-A506-2C5E9E704633}" srcOrd="1" destOrd="0" presId="urn:microsoft.com/office/officeart/2016/7/layout/RepeatingBendingProcessNew"/>
    <dgm:cxn modelId="{24FF433B-B5CA-4D22-AE85-85C27AF2C5AC}" type="presOf" srcId="{F0E8F385-E3E5-4CD8-B2F6-5F83DEBD037D}" destId="{594B74D5-938A-40CD-9E48-148FE2514301}" srcOrd="0" destOrd="0" presId="urn:microsoft.com/office/officeart/2016/7/layout/RepeatingBendingProcessNew"/>
    <dgm:cxn modelId="{CB634F47-2DC0-4F74-B409-7C4F98EF5445}" type="presOf" srcId="{31B11887-AB99-4C20-A9F6-25F92C222C68}" destId="{98AE46E9-6543-42DA-A695-5CEDBCAFAC71}" srcOrd="0" destOrd="0" presId="urn:microsoft.com/office/officeart/2016/7/layout/RepeatingBendingProcessNew"/>
    <dgm:cxn modelId="{1E36EF47-F63D-4E85-B34A-7DB9F7E58207}" type="presOf" srcId="{2F538519-326A-4292-83D2-BC66CD967E42}" destId="{B24F502A-4EBC-4C68-B296-EDC6660DC9A1}" srcOrd="0" destOrd="0" presId="urn:microsoft.com/office/officeart/2016/7/layout/RepeatingBendingProcessNew"/>
    <dgm:cxn modelId="{5F633E4E-9C43-45DE-B0D9-6E96A95CCC49}" srcId="{2FEA7DCC-40B8-46C6-912B-4A591B90DA36}" destId="{EE45A484-AB77-4E00-8295-048E4E23083B}" srcOrd="0" destOrd="0" parTransId="{F76AF68D-E3B6-43E5-A33E-78577E193CA6}" sibTransId="{EBC25AD0-8AFA-4031-8BE9-F957E1CB78C4}"/>
    <dgm:cxn modelId="{4CFD8076-85B5-4D58-8FCA-53B740B873CE}" type="presOf" srcId="{5B08B455-4B5D-4E42-9ED3-87ADFD412B86}" destId="{5D2A00BE-06F4-4568-92AF-7631DBCD63B6}" srcOrd="0" destOrd="0" presId="urn:microsoft.com/office/officeart/2016/7/layout/RepeatingBendingProcessNew"/>
    <dgm:cxn modelId="{40E8AE7B-DEA4-446A-98A1-DC799DCC27A9}" type="presOf" srcId="{EBC25AD0-8AFA-4031-8BE9-F957E1CB78C4}" destId="{5B1B9022-6EBC-4D6B-9A69-F3B6FFCB8725}" srcOrd="0" destOrd="0" presId="urn:microsoft.com/office/officeart/2016/7/layout/RepeatingBendingProcessNew"/>
    <dgm:cxn modelId="{AC71DD7D-4B28-44C0-BE78-3431A0252617}" type="presOf" srcId="{FF7BA3F1-1836-4D80-9186-8BD076233AAC}" destId="{4B77B2C2-2F3C-4916-8486-F8D96B8726AC}" srcOrd="0" destOrd="0" presId="urn:microsoft.com/office/officeart/2016/7/layout/RepeatingBendingProcessNew"/>
    <dgm:cxn modelId="{E57D727F-E4A6-40F3-A962-D785871A807F}" type="presOf" srcId="{2F538519-326A-4292-83D2-BC66CD967E42}" destId="{AB128F8B-F5C7-44E2-A271-9F703EF7FFC5}" srcOrd="1" destOrd="0" presId="urn:microsoft.com/office/officeart/2016/7/layout/RepeatingBendingProcessNew"/>
    <dgm:cxn modelId="{18D32D96-F0F1-4743-8B39-8B34B147ABD8}" srcId="{2FEA7DCC-40B8-46C6-912B-4A591B90DA36}" destId="{31B11887-AB99-4C20-A9F6-25F92C222C68}" srcOrd="6" destOrd="0" parTransId="{F43D7841-3D49-4DC5-9FE4-0BBC0E9DE326}" sibTransId="{ACFD0525-63BD-4694-B9E0-8FCD2F41346A}"/>
    <dgm:cxn modelId="{E30CCE98-18DB-4C85-A3AC-8F8106EA12D9}" srcId="{2FEA7DCC-40B8-46C6-912B-4A591B90DA36}" destId="{F0E8F385-E3E5-4CD8-B2F6-5F83DEBD037D}" srcOrd="4" destOrd="0" parTransId="{3B65D95C-E5C5-4482-9DC7-0B468F2D2DCF}" sibTransId="{5F392AC2-FE57-461B-9DD1-F89274E89BBA}"/>
    <dgm:cxn modelId="{7882FDA4-C220-4C1E-87AF-076DA32A4903}" type="presOf" srcId="{5F392AC2-FE57-461B-9DD1-F89274E89BBA}" destId="{FAE9496F-3E2F-4796-A318-CF5C5B4DEB09}" srcOrd="0" destOrd="0" presId="urn:microsoft.com/office/officeart/2016/7/layout/RepeatingBendingProcessNew"/>
    <dgm:cxn modelId="{747D86B6-35E7-4B8B-AE74-77C2BDFE186D}" type="presOf" srcId="{5F392AC2-FE57-461B-9DD1-F89274E89BBA}" destId="{DB456A2A-D78C-4677-97AB-0D9362C03D6A}" srcOrd="1" destOrd="0" presId="urn:microsoft.com/office/officeart/2016/7/layout/RepeatingBendingProcessNew"/>
    <dgm:cxn modelId="{92B93BB7-A247-4C37-BDE3-5B2CD3CD1AE7}" type="presOf" srcId="{15AEEAF9-C7A1-43BB-B5D5-8DCEE60BD956}" destId="{21503069-A791-4C20-BC6E-6CCD9649DD06}" srcOrd="0" destOrd="0" presId="urn:microsoft.com/office/officeart/2016/7/layout/RepeatingBendingProcessNew"/>
    <dgm:cxn modelId="{0A7683BA-1895-4520-8DB5-19867E66AEEE}" srcId="{2FEA7DCC-40B8-46C6-912B-4A591B90DA36}" destId="{9271DC08-6C96-4956-B853-71B90218D975}" srcOrd="2" destOrd="0" parTransId="{60C8A884-DFBC-450E-954D-08832EE9C868}" sibTransId="{2F538519-326A-4292-83D2-BC66CD967E42}"/>
    <dgm:cxn modelId="{1B49B1BA-7B03-441D-A0B9-997E50B848AE}" srcId="{2FEA7DCC-40B8-46C6-912B-4A591B90DA36}" destId="{928D8BAA-7409-43B5-B8A4-4B1D5D001E92}" srcOrd="5" destOrd="0" parTransId="{90F8F95A-0196-401A-A5E3-D94E490FB066}" sibTransId="{AFC9FF3E-185C-4489-9DEA-AD9A1B6EF2F3}"/>
    <dgm:cxn modelId="{1253D9C5-0D40-4B66-BE8F-FF207B4A5E93}" type="presOf" srcId="{5B08B455-4B5D-4E42-9ED3-87ADFD412B86}" destId="{19AA8B3E-DB77-4DE0-A4CB-9178B96C8DBA}" srcOrd="1" destOrd="0" presId="urn:microsoft.com/office/officeart/2016/7/layout/RepeatingBendingProcessNew"/>
    <dgm:cxn modelId="{C9B169C6-1E64-4CB1-9D5B-8A8E9F50B308}" type="presOf" srcId="{E16460EC-AF70-433D-AFE8-5F62F742AF25}" destId="{A757842E-D7B6-448F-9AA5-C6D029700341}" srcOrd="0" destOrd="0" presId="urn:microsoft.com/office/officeart/2016/7/layout/RepeatingBendingProcessNew"/>
    <dgm:cxn modelId="{45BD84C7-E534-46D4-B8B2-6275E1F4F71B}" type="presOf" srcId="{928D8BAA-7409-43B5-B8A4-4B1D5D001E92}" destId="{450F83EA-C2A2-476F-B33B-55CDB3C220ED}" srcOrd="0" destOrd="0" presId="urn:microsoft.com/office/officeart/2016/7/layout/RepeatingBendingProcessNew"/>
    <dgm:cxn modelId="{5CD873CA-8238-40F6-A074-06F42A598F52}" type="presOf" srcId="{EBC25AD0-8AFA-4031-8BE9-F957E1CB78C4}" destId="{417669C4-D85D-4B7A-8568-3B93EFFBB636}" srcOrd="1" destOrd="0" presId="urn:microsoft.com/office/officeart/2016/7/layout/RepeatingBendingProcessNew"/>
    <dgm:cxn modelId="{60F60BCF-C24E-4CF7-B077-71F78E3B1006}" srcId="{2FEA7DCC-40B8-46C6-912B-4A591B90DA36}" destId="{E16460EC-AF70-433D-AFE8-5F62F742AF25}" srcOrd="1" destOrd="0" parTransId="{9A5CBC6D-0E9E-4FF8-B795-0F568833BF80}" sibTransId="{5B08B455-4B5D-4E42-9ED3-87ADFD412B86}"/>
    <dgm:cxn modelId="{BFDD87D1-6912-4C5F-A798-95B7A6885CB6}" type="presOf" srcId="{EE45A484-AB77-4E00-8295-048E4E23083B}" destId="{EBDA0467-E0A0-46AC-994B-461E80C95583}" srcOrd="0" destOrd="0" presId="urn:microsoft.com/office/officeart/2016/7/layout/RepeatingBendingProcessNew"/>
    <dgm:cxn modelId="{45D14CEE-501C-4640-8A3B-A3D11279DB71}" srcId="{2FEA7DCC-40B8-46C6-912B-4A591B90DA36}" destId="{15AEEAF9-C7A1-43BB-B5D5-8DCEE60BD956}" srcOrd="3" destOrd="0" parTransId="{F4FF7B14-7488-4E1E-8FFC-CBB8008D78F8}" sibTransId="{FF7BA3F1-1836-4D80-9186-8BD076233AAC}"/>
    <dgm:cxn modelId="{AD40AB4E-21D6-4EE8-8F70-879E194F9D33}" type="presParOf" srcId="{BFF006E2-5C9C-418F-A9C9-C4F8C988AE2C}" destId="{EBDA0467-E0A0-46AC-994B-461E80C95583}" srcOrd="0" destOrd="0" presId="urn:microsoft.com/office/officeart/2016/7/layout/RepeatingBendingProcessNew"/>
    <dgm:cxn modelId="{D00D5CBC-B8FC-4561-9F86-8D995EBB1639}" type="presParOf" srcId="{BFF006E2-5C9C-418F-A9C9-C4F8C988AE2C}" destId="{5B1B9022-6EBC-4D6B-9A69-F3B6FFCB8725}" srcOrd="1" destOrd="0" presId="urn:microsoft.com/office/officeart/2016/7/layout/RepeatingBendingProcessNew"/>
    <dgm:cxn modelId="{15B0E5A0-91E1-49D8-8A3B-F174215BC4F4}" type="presParOf" srcId="{5B1B9022-6EBC-4D6B-9A69-F3B6FFCB8725}" destId="{417669C4-D85D-4B7A-8568-3B93EFFBB636}" srcOrd="0" destOrd="0" presId="urn:microsoft.com/office/officeart/2016/7/layout/RepeatingBendingProcessNew"/>
    <dgm:cxn modelId="{95D86429-0C95-40D5-9732-AC46BAB17E68}" type="presParOf" srcId="{BFF006E2-5C9C-418F-A9C9-C4F8C988AE2C}" destId="{A757842E-D7B6-448F-9AA5-C6D029700341}" srcOrd="2" destOrd="0" presId="urn:microsoft.com/office/officeart/2016/7/layout/RepeatingBendingProcessNew"/>
    <dgm:cxn modelId="{BD871257-703D-4EAC-AB67-B545EAA4DFBB}" type="presParOf" srcId="{BFF006E2-5C9C-418F-A9C9-C4F8C988AE2C}" destId="{5D2A00BE-06F4-4568-92AF-7631DBCD63B6}" srcOrd="3" destOrd="0" presId="urn:microsoft.com/office/officeart/2016/7/layout/RepeatingBendingProcessNew"/>
    <dgm:cxn modelId="{66EB90C9-D3C5-4FDB-BC28-592D91380F12}" type="presParOf" srcId="{5D2A00BE-06F4-4568-92AF-7631DBCD63B6}" destId="{19AA8B3E-DB77-4DE0-A4CB-9178B96C8DBA}" srcOrd="0" destOrd="0" presId="urn:microsoft.com/office/officeart/2016/7/layout/RepeatingBendingProcessNew"/>
    <dgm:cxn modelId="{AD0F5F2F-F970-4303-8F6B-2E86B0F4A56F}" type="presParOf" srcId="{BFF006E2-5C9C-418F-A9C9-C4F8C988AE2C}" destId="{CC5F8984-E862-4BC5-9D58-89CF807384AC}" srcOrd="4" destOrd="0" presId="urn:microsoft.com/office/officeart/2016/7/layout/RepeatingBendingProcessNew"/>
    <dgm:cxn modelId="{59CDF55C-9FAC-459B-B962-C5965F6FC506}" type="presParOf" srcId="{BFF006E2-5C9C-418F-A9C9-C4F8C988AE2C}" destId="{B24F502A-4EBC-4C68-B296-EDC6660DC9A1}" srcOrd="5" destOrd="0" presId="urn:microsoft.com/office/officeart/2016/7/layout/RepeatingBendingProcessNew"/>
    <dgm:cxn modelId="{30A5A861-966A-4876-9BFB-31D4F3F3A521}" type="presParOf" srcId="{B24F502A-4EBC-4C68-B296-EDC6660DC9A1}" destId="{AB128F8B-F5C7-44E2-A271-9F703EF7FFC5}" srcOrd="0" destOrd="0" presId="urn:microsoft.com/office/officeart/2016/7/layout/RepeatingBendingProcessNew"/>
    <dgm:cxn modelId="{2735A43F-2444-4D90-9991-21C6D7511245}" type="presParOf" srcId="{BFF006E2-5C9C-418F-A9C9-C4F8C988AE2C}" destId="{21503069-A791-4C20-BC6E-6CCD9649DD06}" srcOrd="6" destOrd="0" presId="urn:microsoft.com/office/officeart/2016/7/layout/RepeatingBendingProcessNew"/>
    <dgm:cxn modelId="{7B1007BA-7575-4740-B006-C5A744FBC98D}" type="presParOf" srcId="{BFF006E2-5C9C-418F-A9C9-C4F8C988AE2C}" destId="{4B77B2C2-2F3C-4916-8486-F8D96B8726AC}" srcOrd="7" destOrd="0" presId="urn:microsoft.com/office/officeart/2016/7/layout/RepeatingBendingProcessNew"/>
    <dgm:cxn modelId="{FF704FAB-DEED-4017-9059-23F2D5551073}" type="presParOf" srcId="{4B77B2C2-2F3C-4916-8486-F8D96B8726AC}" destId="{FBE1ACF3-37EF-4BBC-A506-2C5E9E704633}" srcOrd="0" destOrd="0" presId="urn:microsoft.com/office/officeart/2016/7/layout/RepeatingBendingProcessNew"/>
    <dgm:cxn modelId="{F981EABD-1938-4406-9D43-C443A4848104}" type="presParOf" srcId="{BFF006E2-5C9C-418F-A9C9-C4F8C988AE2C}" destId="{594B74D5-938A-40CD-9E48-148FE2514301}" srcOrd="8" destOrd="0" presId="urn:microsoft.com/office/officeart/2016/7/layout/RepeatingBendingProcessNew"/>
    <dgm:cxn modelId="{BC3035F4-1C69-424E-9F45-4B5821F6BE88}" type="presParOf" srcId="{BFF006E2-5C9C-418F-A9C9-C4F8C988AE2C}" destId="{FAE9496F-3E2F-4796-A318-CF5C5B4DEB09}" srcOrd="9" destOrd="0" presId="urn:microsoft.com/office/officeart/2016/7/layout/RepeatingBendingProcessNew"/>
    <dgm:cxn modelId="{F66AB499-10FD-4FA9-B61B-4BB6E44C65AF}" type="presParOf" srcId="{FAE9496F-3E2F-4796-A318-CF5C5B4DEB09}" destId="{DB456A2A-D78C-4677-97AB-0D9362C03D6A}" srcOrd="0" destOrd="0" presId="urn:microsoft.com/office/officeart/2016/7/layout/RepeatingBendingProcessNew"/>
    <dgm:cxn modelId="{38588B3D-532E-43C1-8A01-6B1BBF2BC9AA}" type="presParOf" srcId="{BFF006E2-5C9C-418F-A9C9-C4F8C988AE2C}" destId="{450F83EA-C2A2-476F-B33B-55CDB3C220ED}" srcOrd="10" destOrd="0" presId="urn:microsoft.com/office/officeart/2016/7/layout/RepeatingBendingProcessNew"/>
    <dgm:cxn modelId="{890C9504-F9BE-499E-ADB7-F9BAE90DDAE8}" type="presParOf" srcId="{BFF006E2-5C9C-418F-A9C9-C4F8C988AE2C}" destId="{5018E937-4537-47D9-93B1-20633E5FDC1B}" srcOrd="11" destOrd="0" presId="urn:microsoft.com/office/officeart/2016/7/layout/RepeatingBendingProcessNew"/>
    <dgm:cxn modelId="{CD04A1BD-0628-48BF-AA42-10AE683CB894}" type="presParOf" srcId="{5018E937-4537-47D9-93B1-20633E5FDC1B}" destId="{41CBF3AA-D135-4E3A-B956-490A2DE1FD7E}" srcOrd="0" destOrd="0" presId="urn:microsoft.com/office/officeart/2016/7/layout/RepeatingBendingProcessNew"/>
    <dgm:cxn modelId="{DC4A52E2-6AA6-4589-A42D-5BBB99DA57AA}" type="presParOf" srcId="{BFF006E2-5C9C-418F-A9C9-C4F8C988AE2C}" destId="{98AE46E9-6543-42DA-A695-5CEDBCAFAC71}"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69AC01-E66B-4D00-B2FA-01FD871AFDD7}" type="doc">
      <dgm:prSet loTypeId="urn:microsoft.com/office/officeart/2018/2/layout/IconCircleList" loCatId="icon" qsTypeId="urn:microsoft.com/office/officeart/2005/8/quickstyle/simple1" qsCatId="simple" csTypeId="urn:microsoft.com/office/officeart/2018/5/colors/Iconchunking_neutralbg_accent4_2" csCatId="accent4" phldr="1"/>
      <dgm:spPr/>
      <dgm:t>
        <a:bodyPr/>
        <a:lstStyle/>
        <a:p>
          <a:endParaRPr lang="en-US"/>
        </a:p>
      </dgm:t>
    </dgm:pt>
    <dgm:pt modelId="{4C0CA6AF-0BB1-4823-ABA4-3F5CBAE787FE}">
      <dgm:prSet/>
      <dgm:spPr/>
      <dgm:t>
        <a:bodyPr/>
        <a:lstStyle/>
        <a:p>
          <a:pPr>
            <a:lnSpc>
              <a:spcPct val="100000"/>
            </a:lnSpc>
          </a:pPr>
          <a:r>
            <a:rPr lang="en-US" b="1"/>
            <a:t>Common Input Pipeline</a:t>
          </a:r>
          <a:br>
            <a:rPr lang="en-US"/>
          </a:br>
          <a:r>
            <a:rPr lang="en-US"/>
            <a:t>We first apply the same preprocessing pipeline to all models (impute missing values, scale numeric features, one-hot encode categorical features) so every model sees exactly the same transformed features.</a:t>
          </a:r>
        </a:p>
      </dgm:t>
    </dgm:pt>
    <dgm:pt modelId="{AD8EFA16-AE38-4C1A-9DA3-C215022AFDBA}" type="parTrans" cxnId="{168AB032-427A-48BF-9FF6-4CF863C58191}">
      <dgm:prSet/>
      <dgm:spPr/>
      <dgm:t>
        <a:bodyPr/>
        <a:lstStyle/>
        <a:p>
          <a:endParaRPr lang="en-US"/>
        </a:p>
      </dgm:t>
    </dgm:pt>
    <dgm:pt modelId="{30D40791-FF56-4010-8F0D-A06866E1D557}" type="sibTrans" cxnId="{168AB032-427A-48BF-9FF6-4CF863C58191}">
      <dgm:prSet/>
      <dgm:spPr/>
      <dgm:t>
        <a:bodyPr/>
        <a:lstStyle/>
        <a:p>
          <a:pPr>
            <a:lnSpc>
              <a:spcPct val="100000"/>
            </a:lnSpc>
          </a:pPr>
          <a:endParaRPr lang="en-US"/>
        </a:p>
      </dgm:t>
    </dgm:pt>
    <dgm:pt modelId="{4BAA3A1B-15BA-4935-81EF-A39F80CDFEDE}">
      <dgm:prSet/>
      <dgm:spPr/>
      <dgm:t>
        <a:bodyPr/>
        <a:lstStyle/>
        <a:p>
          <a:pPr>
            <a:lnSpc>
              <a:spcPct val="100000"/>
            </a:lnSpc>
          </a:pPr>
          <a:r>
            <a:rPr lang="en-US" b="1"/>
            <a:t>Majority-Class Dummy</a:t>
          </a:r>
          <a:br>
            <a:rPr lang="en-US"/>
          </a:br>
          <a:r>
            <a:rPr lang="en-US"/>
            <a:t>We train a dummy classifier that always predicts the most frequent class (on-time). This gives a simple baseline to compare against more complex models.</a:t>
          </a:r>
        </a:p>
      </dgm:t>
    </dgm:pt>
    <dgm:pt modelId="{A9AC742D-CA7A-435E-9114-98FA2555B95B}" type="parTrans" cxnId="{E0367EDF-40A0-4FBF-952E-E190171B5A59}">
      <dgm:prSet/>
      <dgm:spPr/>
      <dgm:t>
        <a:bodyPr/>
        <a:lstStyle/>
        <a:p>
          <a:endParaRPr lang="en-US"/>
        </a:p>
      </dgm:t>
    </dgm:pt>
    <dgm:pt modelId="{3FA763CE-7184-4B7E-8205-361BFC22A99E}" type="sibTrans" cxnId="{E0367EDF-40A0-4FBF-952E-E190171B5A59}">
      <dgm:prSet/>
      <dgm:spPr/>
      <dgm:t>
        <a:bodyPr/>
        <a:lstStyle/>
        <a:p>
          <a:pPr>
            <a:lnSpc>
              <a:spcPct val="100000"/>
            </a:lnSpc>
          </a:pPr>
          <a:endParaRPr lang="en-US"/>
        </a:p>
      </dgm:t>
    </dgm:pt>
    <dgm:pt modelId="{AE0B9A78-12E8-4EB3-82B1-B4E557303B02}">
      <dgm:prSet/>
      <dgm:spPr/>
      <dgm:t>
        <a:bodyPr/>
        <a:lstStyle/>
        <a:p>
          <a:pPr>
            <a:lnSpc>
              <a:spcPct val="100000"/>
            </a:lnSpc>
          </a:pPr>
          <a:r>
            <a:rPr lang="en-US" b="1"/>
            <a:t>Logistic Regression</a:t>
          </a:r>
          <a:br>
            <a:rPr lang="en-US"/>
          </a:br>
          <a:r>
            <a:rPr lang="en-US"/>
            <a:t>We train a regularized logistic regression model on the preprocessed features to get a simple, interpretable linear baseline for the probability of delay.</a:t>
          </a:r>
        </a:p>
      </dgm:t>
    </dgm:pt>
    <dgm:pt modelId="{E9C55CC2-0D00-482B-86E2-660F85392DD2}" type="parTrans" cxnId="{A21C50E8-7759-443C-B096-7CC84817D808}">
      <dgm:prSet/>
      <dgm:spPr/>
      <dgm:t>
        <a:bodyPr/>
        <a:lstStyle/>
        <a:p>
          <a:endParaRPr lang="en-US"/>
        </a:p>
      </dgm:t>
    </dgm:pt>
    <dgm:pt modelId="{1C7454AF-A439-49CB-873F-331D26DD2A6F}" type="sibTrans" cxnId="{A21C50E8-7759-443C-B096-7CC84817D808}">
      <dgm:prSet/>
      <dgm:spPr/>
      <dgm:t>
        <a:bodyPr/>
        <a:lstStyle/>
        <a:p>
          <a:pPr>
            <a:lnSpc>
              <a:spcPct val="100000"/>
            </a:lnSpc>
          </a:pPr>
          <a:endParaRPr lang="en-US"/>
        </a:p>
      </dgm:t>
    </dgm:pt>
    <dgm:pt modelId="{FD328762-EA85-4DE0-86BE-2496001E35F0}">
      <dgm:prSet/>
      <dgm:spPr/>
      <dgm:t>
        <a:bodyPr/>
        <a:lstStyle/>
        <a:p>
          <a:pPr>
            <a:lnSpc>
              <a:spcPct val="100000"/>
            </a:lnSpc>
          </a:pPr>
          <a:r>
            <a:rPr lang="en-US" b="1"/>
            <a:t>Decision Tree</a:t>
          </a:r>
          <a:br>
            <a:rPr lang="en-US"/>
          </a:br>
          <a:r>
            <a:rPr lang="en-US"/>
            <a:t>We train a decision tree classifier to capture basic nonlinear interactions between features such as airline, route, time of day, and distance.</a:t>
          </a:r>
        </a:p>
      </dgm:t>
    </dgm:pt>
    <dgm:pt modelId="{83315052-C11D-40ED-A831-68AE96F2CABA}" type="parTrans" cxnId="{B17E50A0-D2AA-4EC9-8F4E-50CB49C624F0}">
      <dgm:prSet/>
      <dgm:spPr/>
      <dgm:t>
        <a:bodyPr/>
        <a:lstStyle/>
        <a:p>
          <a:endParaRPr lang="en-US"/>
        </a:p>
      </dgm:t>
    </dgm:pt>
    <dgm:pt modelId="{166C5975-C19A-4348-9EB7-1CE48E025AFD}" type="sibTrans" cxnId="{B17E50A0-D2AA-4EC9-8F4E-50CB49C624F0}">
      <dgm:prSet/>
      <dgm:spPr/>
      <dgm:t>
        <a:bodyPr/>
        <a:lstStyle/>
        <a:p>
          <a:pPr>
            <a:lnSpc>
              <a:spcPct val="100000"/>
            </a:lnSpc>
          </a:pPr>
          <a:endParaRPr lang="en-US"/>
        </a:p>
      </dgm:t>
    </dgm:pt>
    <dgm:pt modelId="{52580FCF-BF7A-494D-82C5-B44A84063E05}">
      <dgm:prSet/>
      <dgm:spPr/>
      <dgm:t>
        <a:bodyPr/>
        <a:lstStyle/>
        <a:p>
          <a:pPr>
            <a:lnSpc>
              <a:spcPct val="100000"/>
            </a:lnSpc>
          </a:pPr>
          <a:r>
            <a:rPr lang="en-US" b="1"/>
            <a:t>Random Forest</a:t>
          </a:r>
          <a:br>
            <a:rPr lang="en-US"/>
          </a:br>
          <a:r>
            <a:rPr lang="en-US"/>
            <a:t>We train a random forest with many trees as a stronger nonlinear global model. This becomes our best-performing global baseline in terms of F1 and ROC–AUC.</a:t>
          </a:r>
        </a:p>
      </dgm:t>
    </dgm:pt>
    <dgm:pt modelId="{21F7AADD-BFDA-4E85-8055-630E89BD193C}" type="parTrans" cxnId="{BD04A923-613B-4136-BA44-DF11A92E9DE7}">
      <dgm:prSet/>
      <dgm:spPr/>
      <dgm:t>
        <a:bodyPr/>
        <a:lstStyle/>
        <a:p>
          <a:endParaRPr lang="en-US"/>
        </a:p>
      </dgm:t>
    </dgm:pt>
    <dgm:pt modelId="{B17E5A71-529E-405E-878B-8A1B0D6DB5C5}" type="sibTrans" cxnId="{BD04A923-613B-4136-BA44-DF11A92E9DE7}">
      <dgm:prSet/>
      <dgm:spPr/>
      <dgm:t>
        <a:bodyPr/>
        <a:lstStyle/>
        <a:p>
          <a:pPr>
            <a:lnSpc>
              <a:spcPct val="100000"/>
            </a:lnSpc>
          </a:pPr>
          <a:endParaRPr lang="en-US"/>
        </a:p>
      </dgm:t>
    </dgm:pt>
    <dgm:pt modelId="{095A3915-B139-4C9A-BE72-AF1E42688A77}">
      <dgm:prSet/>
      <dgm:spPr/>
      <dgm:t>
        <a:bodyPr/>
        <a:lstStyle/>
        <a:p>
          <a:pPr>
            <a:lnSpc>
              <a:spcPct val="100000"/>
            </a:lnSpc>
          </a:pPr>
          <a:r>
            <a:rPr lang="en-US" b="1"/>
            <a:t>SVM (LinearSVC)</a:t>
          </a:r>
          <a:br>
            <a:rPr lang="en-US"/>
          </a:br>
          <a:r>
            <a:rPr lang="en-US"/>
            <a:t>We train a linear SVM (with class_weight = "balanced") as another strong linear baseline that handles the class imbalance explicitly.</a:t>
          </a:r>
        </a:p>
      </dgm:t>
    </dgm:pt>
    <dgm:pt modelId="{F1ABD514-4E74-4B9A-AB50-3AC8B5328126}" type="parTrans" cxnId="{7B2C02AD-A1C5-4850-AEAE-74D472B4B08B}">
      <dgm:prSet/>
      <dgm:spPr/>
      <dgm:t>
        <a:bodyPr/>
        <a:lstStyle/>
        <a:p>
          <a:endParaRPr lang="en-US"/>
        </a:p>
      </dgm:t>
    </dgm:pt>
    <dgm:pt modelId="{D7EA5D38-E392-4996-A4BA-202852C2AF9F}" type="sibTrans" cxnId="{7B2C02AD-A1C5-4850-AEAE-74D472B4B08B}">
      <dgm:prSet/>
      <dgm:spPr/>
      <dgm:t>
        <a:bodyPr/>
        <a:lstStyle/>
        <a:p>
          <a:pPr>
            <a:lnSpc>
              <a:spcPct val="100000"/>
            </a:lnSpc>
          </a:pPr>
          <a:endParaRPr lang="en-US"/>
        </a:p>
      </dgm:t>
    </dgm:pt>
    <dgm:pt modelId="{0D94943D-A56B-4916-B82F-5742D27B462C}">
      <dgm:prSet/>
      <dgm:spPr/>
      <dgm:t>
        <a:bodyPr/>
        <a:lstStyle/>
        <a:p>
          <a:pPr>
            <a:lnSpc>
              <a:spcPct val="100000"/>
            </a:lnSpc>
          </a:pPr>
          <a:r>
            <a:rPr lang="en-US" b="1" dirty="0"/>
            <a:t>LSTM (Deep-Learning Baseline)</a:t>
          </a:r>
          <a:br>
            <a:rPr lang="en-US" dirty="0"/>
          </a:br>
          <a:r>
            <a:rPr lang="en-US" dirty="0"/>
            <a:t>We use the same preprocessed features, convert them to dense arrays, reshape them as a 1-step sequence per flight, and train a small LSTM network. This gives a deep-learning baseline to compare against our tree-based models, but in practice it achieves similar ROC–AUC and much lower recall/F1 than the Random Forest and CSE.</a:t>
          </a:r>
        </a:p>
      </dgm:t>
    </dgm:pt>
    <dgm:pt modelId="{105D6403-33A6-4083-8F90-26C4A45ED3C3}" type="parTrans" cxnId="{2E394EDA-1A29-4CA3-9843-CCD464054F16}">
      <dgm:prSet/>
      <dgm:spPr/>
      <dgm:t>
        <a:bodyPr/>
        <a:lstStyle/>
        <a:p>
          <a:endParaRPr lang="en-US"/>
        </a:p>
      </dgm:t>
    </dgm:pt>
    <dgm:pt modelId="{E92ABE19-3F2D-44FD-BE05-CBB3770D118B}" type="sibTrans" cxnId="{2E394EDA-1A29-4CA3-9843-CCD464054F16}">
      <dgm:prSet/>
      <dgm:spPr/>
      <dgm:t>
        <a:bodyPr/>
        <a:lstStyle/>
        <a:p>
          <a:endParaRPr lang="en-US"/>
        </a:p>
      </dgm:t>
    </dgm:pt>
    <dgm:pt modelId="{1E02899F-0431-4B8D-AC66-D6799689A43E}" type="pres">
      <dgm:prSet presAssocID="{C469AC01-E66B-4D00-B2FA-01FD871AFDD7}" presName="root" presStyleCnt="0">
        <dgm:presLayoutVars>
          <dgm:dir/>
          <dgm:resizeHandles val="exact"/>
        </dgm:presLayoutVars>
      </dgm:prSet>
      <dgm:spPr/>
    </dgm:pt>
    <dgm:pt modelId="{CB3D11E5-64DE-4173-B4AF-AD94C78FAC3C}" type="pres">
      <dgm:prSet presAssocID="{C469AC01-E66B-4D00-B2FA-01FD871AFDD7}" presName="container" presStyleCnt="0">
        <dgm:presLayoutVars>
          <dgm:dir/>
          <dgm:resizeHandles val="exact"/>
        </dgm:presLayoutVars>
      </dgm:prSet>
      <dgm:spPr/>
    </dgm:pt>
    <dgm:pt modelId="{2F519BDB-83EB-45C4-A28E-7E2A5B656163}" type="pres">
      <dgm:prSet presAssocID="{4C0CA6AF-0BB1-4823-ABA4-3F5CBAE787FE}" presName="compNode" presStyleCnt="0"/>
      <dgm:spPr/>
    </dgm:pt>
    <dgm:pt modelId="{4F5AFFA7-093D-487E-B6A0-81023B03DD25}" type="pres">
      <dgm:prSet presAssocID="{4C0CA6AF-0BB1-4823-ABA4-3F5CBAE787FE}" presName="iconBgRect" presStyleLbl="bgShp" presStyleIdx="0" presStyleCnt="7"/>
      <dgm:spPr/>
    </dgm:pt>
    <dgm:pt modelId="{078B436C-AB51-45F5-A3AE-631A638A2B4C}" type="pres">
      <dgm:prSet presAssocID="{4C0CA6AF-0BB1-4823-ABA4-3F5CBAE787FE}"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3975AA61-9706-431C-84B0-FD15DF29F15F}" type="pres">
      <dgm:prSet presAssocID="{4C0CA6AF-0BB1-4823-ABA4-3F5CBAE787FE}" presName="spaceRect" presStyleCnt="0"/>
      <dgm:spPr/>
    </dgm:pt>
    <dgm:pt modelId="{CA12AB96-8F7D-4AD2-BB65-46BBEAF9C8A2}" type="pres">
      <dgm:prSet presAssocID="{4C0CA6AF-0BB1-4823-ABA4-3F5CBAE787FE}" presName="textRect" presStyleLbl="revTx" presStyleIdx="0" presStyleCnt="7">
        <dgm:presLayoutVars>
          <dgm:chMax val="1"/>
          <dgm:chPref val="1"/>
        </dgm:presLayoutVars>
      </dgm:prSet>
      <dgm:spPr/>
    </dgm:pt>
    <dgm:pt modelId="{8F105845-C7A1-4EFE-B74F-6F544CAE9F1D}" type="pres">
      <dgm:prSet presAssocID="{30D40791-FF56-4010-8F0D-A06866E1D557}" presName="sibTrans" presStyleLbl="sibTrans2D1" presStyleIdx="0" presStyleCnt="0"/>
      <dgm:spPr/>
    </dgm:pt>
    <dgm:pt modelId="{FF376D12-FDB3-4447-A094-186E29AB1711}" type="pres">
      <dgm:prSet presAssocID="{4BAA3A1B-15BA-4935-81EF-A39F80CDFEDE}" presName="compNode" presStyleCnt="0"/>
      <dgm:spPr/>
    </dgm:pt>
    <dgm:pt modelId="{7EB8402A-0F59-431D-B509-9B5C926C0E22}" type="pres">
      <dgm:prSet presAssocID="{4BAA3A1B-15BA-4935-81EF-A39F80CDFEDE}" presName="iconBgRect" presStyleLbl="bgShp" presStyleIdx="1" presStyleCnt="7"/>
      <dgm:spPr/>
    </dgm:pt>
    <dgm:pt modelId="{645F6355-62C2-4C82-B7D9-5875BB93B8D4}" type="pres">
      <dgm:prSet presAssocID="{4BAA3A1B-15BA-4935-81EF-A39F80CDFED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in"/>
        </a:ext>
      </dgm:extLst>
    </dgm:pt>
    <dgm:pt modelId="{9149272E-56B3-4C7D-B566-700E1C2811BD}" type="pres">
      <dgm:prSet presAssocID="{4BAA3A1B-15BA-4935-81EF-A39F80CDFEDE}" presName="spaceRect" presStyleCnt="0"/>
      <dgm:spPr/>
    </dgm:pt>
    <dgm:pt modelId="{18C2FEB9-A9C0-4A1A-8598-91D455FFDFDA}" type="pres">
      <dgm:prSet presAssocID="{4BAA3A1B-15BA-4935-81EF-A39F80CDFEDE}" presName="textRect" presStyleLbl="revTx" presStyleIdx="1" presStyleCnt="7">
        <dgm:presLayoutVars>
          <dgm:chMax val="1"/>
          <dgm:chPref val="1"/>
        </dgm:presLayoutVars>
      </dgm:prSet>
      <dgm:spPr/>
    </dgm:pt>
    <dgm:pt modelId="{3E566171-BF8E-4403-9902-F21BC1E1FE61}" type="pres">
      <dgm:prSet presAssocID="{3FA763CE-7184-4B7E-8205-361BFC22A99E}" presName="sibTrans" presStyleLbl="sibTrans2D1" presStyleIdx="0" presStyleCnt="0"/>
      <dgm:spPr/>
    </dgm:pt>
    <dgm:pt modelId="{85971CF9-4323-4C92-8383-D3EB6AF98E8F}" type="pres">
      <dgm:prSet presAssocID="{AE0B9A78-12E8-4EB3-82B1-B4E557303B02}" presName="compNode" presStyleCnt="0"/>
      <dgm:spPr/>
    </dgm:pt>
    <dgm:pt modelId="{30A88BCD-6620-44B4-8782-AD46093871DB}" type="pres">
      <dgm:prSet presAssocID="{AE0B9A78-12E8-4EB3-82B1-B4E557303B02}" presName="iconBgRect" presStyleLbl="bgShp" presStyleIdx="2" presStyleCnt="7"/>
      <dgm:spPr/>
    </dgm:pt>
    <dgm:pt modelId="{36672679-565A-4AE0-BEF0-A5778B4486D7}" type="pres">
      <dgm:prSet presAssocID="{AE0B9A78-12E8-4EB3-82B1-B4E557303B02}"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3812C162-6E6E-4CBE-BB22-91C89D546BAC}" type="pres">
      <dgm:prSet presAssocID="{AE0B9A78-12E8-4EB3-82B1-B4E557303B02}" presName="spaceRect" presStyleCnt="0"/>
      <dgm:spPr/>
    </dgm:pt>
    <dgm:pt modelId="{EB89C7F5-A144-491C-B8F5-989D356451C4}" type="pres">
      <dgm:prSet presAssocID="{AE0B9A78-12E8-4EB3-82B1-B4E557303B02}" presName="textRect" presStyleLbl="revTx" presStyleIdx="2" presStyleCnt="7">
        <dgm:presLayoutVars>
          <dgm:chMax val="1"/>
          <dgm:chPref val="1"/>
        </dgm:presLayoutVars>
      </dgm:prSet>
      <dgm:spPr/>
    </dgm:pt>
    <dgm:pt modelId="{47630B22-9AA1-4977-8820-4DD0104FFE70}" type="pres">
      <dgm:prSet presAssocID="{1C7454AF-A439-49CB-873F-331D26DD2A6F}" presName="sibTrans" presStyleLbl="sibTrans2D1" presStyleIdx="0" presStyleCnt="0"/>
      <dgm:spPr/>
    </dgm:pt>
    <dgm:pt modelId="{2990943F-CB75-4690-9441-23101F409288}" type="pres">
      <dgm:prSet presAssocID="{FD328762-EA85-4DE0-86BE-2496001E35F0}" presName="compNode" presStyleCnt="0"/>
      <dgm:spPr/>
    </dgm:pt>
    <dgm:pt modelId="{9F1779A2-C466-4678-8558-327AA58C5ECD}" type="pres">
      <dgm:prSet presAssocID="{FD328762-EA85-4DE0-86BE-2496001E35F0}" presName="iconBgRect" presStyleLbl="bgShp" presStyleIdx="3" presStyleCnt="7"/>
      <dgm:spPr/>
    </dgm:pt>
    <dgm:pt modelId="{AC2E1A1F-C9C9-4F8B-97BA-DEA5C519A941}" type="pres">
      <dgm:prSet presAssocID="{FD328762-EA85-4DE0-86BE-2496001E35F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licopter"/>
        </a:ext>
      </dgm:extLst>
    </dgm:pt>
    <dgm:pt modelId="{9A324253-2532-46CE-BE45-35B2592270B1}" type="pres">
      <dgm:prSet presAssocID="{FD328762-EA85-4DE0-86BE-2496001E35F0}" presName="spaceRect" presStyleCnt="0"/>
      <dgm:spPr/>
    </dgm:pt>
    <dgm:pt modelId="{417F9234-11AA-4DBC-BBF7-3D54287506F8}" type="pres">
      <dgm:prSet presAssocID="{FD328762-EA85-4DE0-86BE-2496001E35F0}" presName="textRect" presStyleLbl="revTx" presStyleIdx="3" presStyleCnt="7">
        <dgm:presLayoutVars>
          <dgm:chMax val="1"/>
          <dgm:chPref val="1"/>
        </dgm:presLayoutVars>
      </dgm:prSet>
      <dgm:spPr/>
    </dgm:pt>
    <dgm:pt modelId="{59C52030-64EA-4910-8B95-F28183A10592}" type="pres">
      <dgm:prSet presAssocID="{166C5975-C19A-4348-9EB7-1CE48E025AFD}" presName="sibTrans" presStyleLbl="sibTrans2D1" presStyleIdx="0" presStyleCnt="0"/>
      <dgm:spPr/>
    </dgm:pt>
    <dgm:pt modelId="{405FD3EA-698D-4DFC-84A1-65B23B3DCE8D}" type="pres">
      <dgm:prSet presAssocID="{52580FCF-BF7A-494D-82C5-B44A84063E05}" presName="compNode" presStyleCnt="0"/>
      <dgm:spPr/>
    </dgm:pt>
    <dgm:pt modelId="{68E0EE38-21F6-4228-B5E3-2ED14BFC202B}" type="pres">
      <dgm:prSet presAssocID="{52580FCF-BF7A-494D-82C5-B44A84063E05}" presName="iconBgRect" presStyleLbl="bgShp" presStyleIdx="4" presStyleCnt="7"/>
      <dgm:spPr/>
    </dgm:pt>
    <dgm:pt modelId="{5329BC74-2704-48C4-9C06-6A6EBC18DC0E}" type="pres">
      <dgm:prSet presAssocID="{52580FCF-BF7A-494D-82C5-B44A84063E05}"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orest scene"/>
        </a:ext>
      </dgm:extLst>
    </dgm:pt>
    <dgm:pt modelId="{0A47F2B0-F8E2-4647-BA91-A092C17497FB}" type="pres">
      <dgm:prSet presAssocID="{52580FCF-BF7A-494D-82C5-B44A84063E05}" presName="spaceRect" presStyleCnt="0"/>
      <dgm:spPr/>
    </dgm:pt>
    <dgm:pt modelId="{F33C03C6-41BF-4F67-BDAD-7BB9C6DC1B62}" type="pres">
      <dgm:prSet presAssocID="{52580FCF-BF7A-494D-82C5-B44A84063E05}" presName="textRect" presStyleLbl="revTx" presStyleIdx="4" presStyleCnt="7">
        <dgm:presLayoutVars>
          <dgm:chMax val="1"/>
          <dgm:chPref val="1"/>
        </dgm:presLayoutVars>
      </dgm:prSet>
      <dgm:spPr/>
    </dgm:pt>
    <dgm:pt modelId="{04E3A65B-BEEF-4A75-B876-7A2868F98100}" type="pres">
      <dgm:prSet presAssocID="{B17E5A71-529E-405E-878B-8A1B0D6DB5C5}" presName="sibTrans" presStyleLbl="sibTrans2D1" presStyleIdx="0" presStyleCnt="0"/>
      <dgm:spPr/>
    </dgm:pt>
    <dgm:pt modelId="{D61C6B32-6C49-470D-8FBD-245FECB88391}" type="pres">
      <dgm:prSet presAssocID="{095A3915-B139-4C9A-BE72-AF1E42688A77}" presName="compNode" presStyleCnt="0"/>
      <dgm:spPr/>
    </dgm:pt>
    <dgm:pt modelId="{53421D26-5A3F-4C4B-ADB5-64C8F38093C6}" type="pres">
      <dgm:prSet presAssocID="{095A3915-B139-4C9A-BE72-AF1E42688A77}" presName="iconBgRect" presStyleLbl="bgShp" presStyleIdx="5" presStyleCnt="7"/>
      <dgm:spPr/>
    </dgm:pt>
    <dgm:pt modelId="{9BC68DED-96BF-4726-8AE0-D6A0FCC398D0}" type="pres">
      <dgm:prSet presAssocID="{095A3915-B139-4C9A-BE72-AF1E42688A77}"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Flowchart"/>
        </a:ext>
      </dgm:extLst>
    </dgm:pt>
    <dgm:pt modelId="{15A633DA-378F-4E91-9AA5-4F5360E8878D}" type="pres">
      <dgm:prSet presAssocID="{095A3915-B139-4C9A-BE72-AF1E42688A77}" presName="spaceRect" presStyleCnt="0"/>
      <dgm:spPr/>
    </dgm:pt>
    <dgm:pt modelId="{A4AD6598-518A-4213-9AC6-7C02A54E9A5E}" type="pres">
      <dgm:prSet presAssocID="{095A3915-B139-4C9A-BE72-AF1E42688A77}" presName="textRect" presStyleLbl="revTx" presStyleIdx="5" presStyleCnt="7">
        <dgm:presLayoutVars>
          <dgm:chMax val="1"/>
          <dgm:chPref val="1"/>
        </dgm:presLayoutVars>
      </dgm:prSet>
      <dgm:spPr/>
    </dgm:pt>
    <dgm:pt modelId="{CC0FF284-C2C5-41D9-B64D-338296742091}" type="pres">
      <dgm:prSet presAssocID="{D7EA5D38-E392-4996-A4BA-202852C2AF9F}" presName="sibTrans" presStyleLbl="sibTrans2D1" presStyleIdx="0" presStyleCnt="0"/>
      <dgm:spPr/>
    </dgm:pt>
    <dgm:pt modelId="{19C912E0-9194-482E-AD99-948E2D7A1BE1}" type="pres">
      <dgm:prSet presAssocID="{0D94943D-A56B-4916-B82F-5742D27B462C}" presName="compNode" presStyleCnt="0"/>
      <dgm:spPr/>
    </dgm:pt>
    <dgm:pt modelId="{A4A73F06-E573-4991-985D-635645D7446F}" type="pres">
      <dgm:prSet presAssocID="{0D94943D-A56B-4916-B82F-5742D27B462C}" presName="iconBgRect" presStyleLbl="bgShp" presStyleIdx="6" presStyleCnt="7" custLinFactNeighborX="6066" custLinFactNeighborY="-3640"/>
      <dgm:spPr/>
    </dgm:pt>
    <dgm:pt modelId="{1ABB12EE-6EBA-48FA-84E3-B8260156B6A3}" type="pres">
      <dgm:prSet presAssocID="{0D94943D-A56B-4916-B82F-5742D27B462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ilter"/>
        </a:ext>
      </dgm:extLst>
    </dgm:pt>
    <dgm:pt modelId="{76F01105-5C5B-49B6-AEF9-6B49E4327E6D}" type="pres">
      <dgm:prSet presAssocID="{0D94943D-A56B-4916-B82F-5742D27B462C}" presName="spaceRect" presStyleCnt="0"/>
      <dgm:spPr/>
    </dgm:pt>
    <dgm:pt modelId="{3CF34F4F-73B4-4448-9998-21CE27F7966D}" type="pres">
      <dgm:prSet presAssocID="{0D94943D-A56B-4916-B82F-5742D27B462C}" presName="textRect" presStyleLbl="revTx" presStyleIdx="6" presStyleCnt="7" custScaleX="277941" custLinFactNeighborX="95829" custLinFactNeighborY="-5356">
        <dgm:presLayoutVars>
          <dgm:chMax val="1"/>
          <dgm:chPref val="1"/>
        </dgm:presLayoutVars>
      </dgm:prSet>
      <dgm:spPr/>
    </dgm:pt>
  </dgm:ptLst>
  <dgm:cxnLst>
    <dgm:cxn modelId="{CFBF9F01-E51B-4CCE-B68D-1F4ED4381A2A}" type="presOf" srcId="{D7EA5D38-E392-4996-A4BA-202852C2AF9F}" destId="{CC0FF284-C2C5-41D9-B64D-338296742091}" srcOrd="0" destOrd="0" presId="urn:microsoft.com/office/officeart/2018/2/layout/IconCircleList"/>
    <dgm:cxn modelId="{94145515-B405-4272-B0B5-BA1CD88EDF80}" type="presOf" srcId="{30D40791-FF56-4010-8F0D-A06866E1D557}" destId="{8F105845-C7A1-4EFE-B74F-6F544CAE9F1D}" srcOrd="0" destOrd="0" presId="urn:microsoft.com/office/officeart/2018/2/layout/IconCircleList"/>
    <dgm:cxn modelId="{8AC6D41D-7D46-4AF0-85CB-0AED6225859F}" type="presOf" srcId="{166C5975-C19A-4348-9EB7-1CE48E025AFD}" destId="{59C52030-64EA-4910-8B95-F28183A10592}" srcOrd="0" destOrd="0" presId="urn:microsoft.com/office/officeart/2018/2/layout/IconCircleList"/>
    <dgm:cxn modelId="{BD04A923-613B-4136-BA44-DF11A92E9DE7}" srcId="{C469AC01-E66B-4D00-B2FA-01FD871AFDD7}" destId="{52580FCF-BF7A-494D-82C5-B44A84063E05}" srcOrd="4" destOrd="0" parTransId="{21F7AADD-BFDA-4E85-8055-630E89BD193C}" sibTransId="{B17E5A71-529E-405E-878B-8A1B0D6DB5C5}"/>
    <dgm:cxn modelId="{168AB032-427A-48BF-9FF6-4CF863C58191}" srcId="{C469AC01-E66B-4D00-B2FA-01FD871AFDD7}" destId="{4C0CA6AF-0BB1-4823-ABA4-3F5CBAE787FE}" srcOrd="0" destOrd="0" parTransId="{AD8EFA16-AE38-4C1A-9DA3-C215022AFDBA}" sibTransId="{30D40791-FF56-4010-8F0D-A06866E1D557}"/>
    <dgm:cxn modelId="{E8B56A40-F3A5-4791-863C-E8F2B17FF3C3}" type="presOf" srcId="{095A3915-B139-4C9A-BE72-AF1E42688A77}" destId="{A4AD6598-518A-4213-9AC6-7C02A54E9A5E}" srcOrd="0" destOrd="0" presId="urn:microsoft.com/office/officeart/2018/2/layout/IconCircleList"/>
    <dgm:cxn modelId="{C433366B-39CA-4A63-A27C-61EBBF7CEA87}" type="presOf" srcId="{AE0B9A78-12E8-4EB3-82B1-B4E557303B02}" destId="{EB89C7F5-A144-491C-B8F5-989D356451C4}" srcOrd="0" destOrd="0" presId="urn:microsoft.com/office/officeart/2018/2/layout/IconCircleList"/>
    <dgm:cxn modelId="{2DE28D4D-B91B-426C-BD37-94BB79D4D6F3}" type="presOf" srcId="{B17E5A71-529E-405E-878B-8A1B0D6DB5C5}" destId="{04E3A65B-BEEF-4A75-B876-7A2868F98100}" srcOrd="0" destOrd="0" presId="urn:microsoft.com/office/officeart/2018/2/layout/IconCircleList"/>
    <dgm:cxn modelId="{27E0E96D-714C-4DE6-BE93-A28296676879}" type="presOf" srcId="{C469AC01-E66B-4D00-B2FA-01FD871AFDD7}" destId="{1E02899F-0431-4B8D-AC66-D6799689A43E}" srcOrd="0" destOrd="0" presId="urn:microsoft.com/office/officeart/2018/2/layout/IconCircleList"/>
    <dgm:cxn modelId="{A06E889C-3FB0-4437-A6C3-3385789F22D3}" type="presOf" srcId="{52580FCF-BF7A-494D-82C5-B44A84063E05}" destId="{F33C03C6-41BF-4F67-BDAD-7BB9C6DC1B62}" srcOrd="0" destOrd="0" presId="urn:microsoft.com/office/officeart/2018/2/layout/IconCircleList"/>
    <dgm:cxn modelId="{B17E50A0-D2AA-4EC9-8F4E-50CB49C624F0}" srcId="{C469AC01-E66B-4D00-B2FA-01FD871AFDD7}" destId="{FD328762-EA85-4DE0-86BE-2496001E35F0}" srcOrd="3" destOrd="0" parTransId="{83315052-C11D-40ED-A831-68AE96F2CABA}" sibTransId="{166C5975-C19A-4348-9EB7-1CE48E025AFD}"/>
    <dgm:cxn modelId="{907F5DA6-3242-4323-BFD3-20BD3B07B1AE}" type="presOf" srcId="{0D94943D-A56B-4916-B82F-5742D27B462C}" destId="{3CF34F4F-73B4-4448-9998-21CE27F7966D}" srcOrd="0" destOrd="0" presId="urn:microsoft.com/office/officeart/2018/2/layout/IconCircleList"/>
    <dgm:cxn modelId="{3B9E1EAB-4A68-477B-BEED-0691A611F2D2}" type="presOf" srcId="{4C0CA6AF-0BB1-4823-ABA4-3F5CBAE787FE}" destId="{CA12AB96-8F7D-4AD2-BB65-46BBEAF9C8A2}" srcOrd="0" destOrd="0" presId="urn:microsoft.com/office/officeart/2018/2/layout/IconCircleList"/>
    <dgm:cxn modelId="{7B2C02AD-A1C5-4850-AEAE-74D472B4B08B}" srcId="{C469AC01-E66B-4D00-B2FA-01FD871AFDD7}" destId="{095A3915-B139-4C9A-BE72-AF1E42688A77}" srcOrd="5" destOrd="0" parTransId="{F1ABD514-4E74-4B9A-AB50-3AC8B5328126}" sibTransId="{D7EA5D38-E392-4996-A4BA-202852C2AF9F}"/>
    <dgm:cxn modelId="{4B730DCE-1C94-41D3-882E-1C3F37837E96}" type="presOf" srcId="{3FA763CE-7184-4B7E-8205-361BFC22A99E}" destId="{3E566171-BF8E-4403-9902-F21BC1E1FE61}" srcOrd="0" destOrd="0" presId="urn:microsoft.com/office/officeart/2018/2/layout/IconCircleList"/>
    <dgm:cxn modelId="{23F808D7-15C0-424C-AFC8-F7038463BE91}" type="presOf" srcId="{FD328762-EA85-4DE0-86BE-2496001E35F0}" destId="{417F9234-11AA-4DBC-BBF7-3D54287506F8}" srcOrd="0" destOrd="0" presId="urn:microsoft.com/office/officeart/2018/2/layout/IconCircleList"/>
    <dgm:cxn modelId="{2E394EDA-1A29-4CA3-9843-CCD464054F16}" srcId="{C469AC01-E66B-4D00-B2FA-01FD871AFDD7}" destId="{0D94943D-A56B-4916-B82F-5742D27B462C}" srcOrd="6" destOrd="0" parTransId="{105D6403-33A6-4083-8F90-26C4A45ED3C3}" sibTransId="{E92ABE19-3F2D-44FD-BE05-CBB3770D118B}"/>
    <dgm:cxn modelId="{E48A15DD-9530-45FC-8B05-745E503D4CAA}" type="presOf" srcId="{4BAA3A1B-15BA-4935-81EF-A39F80CDFEDE}" destId="{18C2FEB9-A9C0-4A1A-8598-91D455FFDFDA}" srcOrd="0" destOrd="0" presId="urn:microsoft.com/office/officeart/2018/2/layout/IconCircleList"/>
    <dgm:cxn modelId="{AA3F8BDE-9AB7-43DE-A721-555956280A1A}" type="presOf" srcId="{1C7454AF-A439-49CB-873F-331D26DD2A6F}" destId="{47630B22-9AA1-4977-8820-4DD0104FFE70}" srcOrd="0" destOrd="0" presId="urn:microsoft.com/office/officeart/2018/2/layout/IconCircleList"/>
    <dgm:cxn modelId="{E0367EDF-40A0-4FBF-952E-E190171B5A59}" srcId="{C469AC01-E66B-4D00-B2FA-01FD871AFDD7}" destId="{4BAA3A1B-15BA-4935-81EF-A39F80CDFEDE}" srcOrd="1" destOrd="0" parTransId="{A9AC742D-CA7A-435E-9114-98FA2555B95B}" sibTransId="{3FA763CE-7184-4B7E-8205-361BFC22A99E}"/>
    <dgm:cxn modelId="{A21C50E8-7759-443C-B096-7CC84817D808}" srcId="{C469AC01-E66B-4D00-B2FA-01FD871AFDD7}" destId="{AE0B9A78-12E8-4EB3-82B1-B4E557303B02}" srcOrd="2" destOrd="0" parTransId="{E9C55CC2-0D00-482B-86E2-660F85392DD2}" sibTransId="{1C7454AF-A439-49CB-873F-331D26DD2A6F}"/>
    <dgm:cxn modelId="{D0328D62-C348-4129-B0BF-A21EF4ED86EA}" type="presParOf" srcId="{1E02899F-0431-4B8D-AC66-D6799689A43E}" destId="{CB3D11E5-64DE-4173-B4AF-AD94C78FAC3C}" srcOrd="0" destOrd="0" presId="urn:microsoft.com/office/officeart/2018/2/layout/IconCircleList"/>
    <dgm:cxn modelId="{BB8B8E8D-5560-4821-8701-9F2C8A94277D}" type="presParOf" srcId="{CB3D11E5-64DE-4173-B4AF-AD94C78FAC3C}" destId="{2F519BDB-83EB-45C4-A28E-7E2A5B656163}" srcOrd="0" destOrd="0" presId="urn:microsoft.com/office/officeart/2018/2/layout/IconCircleList"/>
    <dgm:cxn modelId="{F045DCA5-AD0A-43CE-B2DD-778713BBADCE}" type="presParOf" srcId="{2F519BDB-83EB-45C4-A28E-7E2A5B656163}" destId="{4F5AFFA7-093D-487E-B6A0-81023B03DD25}" srcOrd="0" destOrd="0" presId="urn:microsoft.com/office/officeart/2018/2/layout/IconCircleList"/>
    <dgm:cxn modelId="{DB1629AA-71C3-43A2-9E91-B6D37DE5F67D}" type="presParOf" srcId="{2F519BDB-83EB-45C4-A28E-7E2A5B656163}" destId="{078B436C-AB51-45F5-A3AE-631A638A2B4C}" srcOrd="1" destOrd="0" presId="urn:microsoft.com/office/officeart/2018/2/layout/IconCircleList"/>
    <dgm:cxn modelId="{712E1681-BB65-40B3-9667-E130F4570D47}" type="presParOf" srcId="{2F519BDB-83EB-45C4-A28E-7E2A5B656163}" destId="{3975AA61-9706-431C-84B0-FD15DF29F15F}" srcOrd="2" destOrd="0" presId="urn:microsoft.com/office/officeart/2018/2/layout/IconCircleList"/>
    <dgm:cxn modelId="{C36D660D-E8F1-4DDD-AC89-FFEB67695B1F}" type="presParOf" srcId="{2F519BDB-83EB-45C4-A28E-7E2A5B656163}" destId="{CA12AB96-8F7D-4AD2-BB65-46BBEAF9C8A2}" srcOrd="3" destOrd="0" presId="urn:microsoft.com/office/officeart/2018/2/layout/IconCircleList"/>
    <dgm:cxn modelId="{AA59C3C7-F993-4820-A970-7BB0D00D37CC}" type="presParOf" srcId="{CB3D11E5-64DE-4173-B4AF-AD94C78FAC3C}" destId="{8F105845-C7A1-4EFE-B74F-6F544CAE9F1D}" srcOrd="1" destOrd="0" presId="urn:microsoft.com/office/officeart/2018/2/layout/IconCircleList"/>
    <dgm:cxn modelId="{5CBBF692-010B-40BB-85FF-0DBA2428CEF2}" type="presParOf" srcId="{CB3D11E5-64DE-4173-B4AF-AD94C78FAC3C}" destId="{FF376D12-FDB3-4447-A094-186E29AB1711}" srcOrd="2" destOrd="0" presId="urn:microsoft.com/office/officeart/2018/2/layout/IconCircleList"/>
    <dgm:cxn modelId="{EB3E9299-984E-4945-9C2D-AB44C85E1F7B}" type="presParOf" srcId="{FF376D12-FDB3-4447-A094-186E29AB1711}" destId="{7EB8402A-0F59-431D-B509-9B5C926C0E22}" srcOrd="0" destOrd="0" presId="urn:microsoft.com/office/officeart/2018/2/layout/IconCircleList"/>
    <dgm:cxn modelId="{42E427EA-38E7-44E6-B077-F90F081DD491}" type="presParOf" srcId="{FF376D12-FDB3-4447-A094-186E29AB1711}" destId="{645F6355-62C2-4C82-B7D9-5875BB93B8D4}" srcOrd="1" destOrd="0" presId="urn:microsoft.com/office/officeart/2018/2/layout/IconCircleList"/>
    <dgm:cxn modelId="{BFBB6E78-9A7C-4038-A7E8-F328A4B2535A}" type="presParOf" srcId="{FF376D12-FDB3-4447-A094-186E29AB1711}" destId="{9149272E-56B3-4C7D-B566-700E1C2811BD}" srcOrd="2" destOrd="0" presId="urn:microsoft.com/office/officeart/2018/2/layout/IconCircleList"/>
    <dgm:cxn modelId="{8C221FD2-18F2-4721-9CFC-6B3CC26D9477}" type="presParOf" srcId="{FF376D12-FDB3-4447-A094-186E29AB1711}" destId="{18C2FEB9-A9C0-4A1A-8598-91D455FFDFDA}" srcOrd="3" destOrd="0" presId="urn:microsoft.com/office/officeart/2018/2/layout/IconCircleList"/>
    <dgm:cxn modelId="{9F7C9487-C6BE-41CB-8DE5-E43F8183CAE2}" type="presParOf" srcId="{CB3D11E5-64DE-4173-B4AF-AD94C78FAC3C}" destId="{3E566171-BF8E-4403-9902-F21BC1E1FE61}" srcOrd="3" destOrd="0" presId="urn:microsoft.com/office/officeart/2018/2/layout/IconCircleList"/>
    <dgm:cxn modelId="{75BEA08B-3340-48E5-98FA-86B1F596468E}" type="presParOf" srcId="{CB3D11E5-64DE-4173-B4AF-AD94C78FAC3C}" destId="{85971CF9-4323-4C92-8383-D3EB6AF98E8F}" srcOrd="4" destOrd="0" presId="urn:microsoft.com/office/officeart/2018/2/layout/IconCircleList"/>
    <dgm:cxn modelId="{45E25EC7-9CD1-454B-833B-CDE3627B074E}" type="presParOf" srcId="{85971CF9-4323-4C92-8383-D3EB6AF98E8F}" destId="{30A88BCD-6620-44B4-8782-AD46093871DB}" srcOrd="0" destOrd="0" presId="urn:microsoft.com/office/officeart/2018/2/layout/IconCircleList"/>
    <dgm:cxn modelId="{821CB89C-275F-44A5-8EF8-78D2EA3DF909}" type="presParOf" srcId="{85971CF9-4323-4C92-8383-D3EB6AF98E8F}" destId="{36672679-565A-4AE0-BEF0-A5778B4486D7}" srcOrd="1" destOrd="0" presId="urn:microsoft.com/office/officeart/2018/2/layout/IconCircleList"/>
    <dgm:cxn modelId="{BCBD381A-AA4D-4E64-A526-FBCF5F5D9117}" type="presParOf" srcId="{85971CF9-4323-4C92-8383-D3EB6AF98E8F}" destId="{3812C162-6E6E-4CBE-BB22-91C89D546BAC}" srcOrd="2" destOrd="0" presId="urn:microsoft.com/office/officeart/2018/2/layout/IconCircleList"/>
    <dgm:cxn modelId="{D16468A2-55C2-472F-90FF-2CFB0DBC9B06}" type="presParOf" srcId="{85971CF9-4323-4C92-8383-D3EB6AF98E8F}" destId="{EB89C7F5-A144-491C-B8F5-989D356451C4}" srcOrd="3" destOrd="0" presId="urn:microsoft.com/office/officeart/2018/2/layout/IconCircleList"/>
    <dgm:cxn modelId="{FFAFCBB3-A473-4E2B-8674-3B702FC4FF30}" type="presParOf" srcId="{CB3D11E5-64DE-4173-B4AF-AD94C78FAC3C}" destId="{47630B22-9AA1-4977-8820-4DD0104FFE70}" srcOrd="5" destOrd="0" presId="urn:microsoft.com/office/officeart/2018/2/layout/IconCircleList"/>
    <dgm:cxn modelId="{B163B4D4-7D72-4EAD-9FE1-0451B4F760D9}" type="presParOf" srcId="{CB3D11E5-64DE-4173-B4AF-AD94C78FAC3C}" destId="{2990943F-CB75-4690-9441-23101F409288}" srcOrd="6" destOrd="0" presId="urn:microsoft.com/office/officeart/2018/2/layout/IconCircleList"/>
    <dgm:cxn modelId="{EE2C757C-67B5-4B9E-8558-5B2CAA7ECF2C}" type="presParOf" srcId="{2990943F-CB75-4690-9441-23101F409288}" destId="{9F1779A2-C466-4678-8558-327AA58C5ECD}" srcOrd="0" destOrd="0" presId="urn:microsoft.com/office/officeart/2018/2/layout/IconCircleList"/>
    <dgm:cxn modelId="{A7E9FA71-A6B7-4016-BB7C-F611A8302DED}" type="presParOf" srcId="{2990943F-CB75-4690-9441-23101F409288}" destId="{AC2E1A1F-C9C9-4F8B-97BA-DEA5C519A941}" srcOrd="1" destOrd="0" presId="urn:microsoft.com/office/officeart/2018/2/layout/IconCircleList"/>
    <dgm:cxn modelId="{1F17EE19-4309-447A-B8B2-71A8E5DB4D40}" type="presParOf" srcId="{2990943F-CB75-4690-9441-23101F409288}" destId="{9A324253-2532-46CE-BE45-35B2592270B1}" srcOrd="2" destOrd="0" presId="urn:microsoft.com/office/officeart/2018/2/layout/IconCircleList"/>
    <dgm:cxn modelId="{82B22BEF-A2FB-430C-BBB0-75CA5083F018}" type="presParOf" srcId="{2990943F-CB75-4690-9441-23101F409288}" destId="{417F9234-11AA-4DBC-BBF7-3D54287506F8}" srcOrd="3" destOrd="0" presId="urn:microsoft.com/office/officeart/2018/2/layout/IconCircleList"/>
    <dgm:cxn modelId="{FB62129D-C45C-4885-9A57-F6F1FFB6D34F}" type="presParOf" srcId="{CB3D11E5-64DE-4173-B4AF-AD94C78FAC3C}" destId="{59C52030-64EA-4910-8B95-F28183A10592}" srcOrd="7" destOrd="0" presId="urn:microsoft.com/office/officeart/2018/2/layout/IconCircleList"/>
    <dgm:cxn modelId="{3C750F5A-0E40-4543-BCE7-8984B3D7256B}" type="presParOf" srcId="{CB3D11E5-64DE-4173-B4AF-AD94C78FAC3C}" destId="{405FD3EA-698D-4DFC-84A1-65B23B3DCE8D}" srcOrd="8" destOrd="0" presId="urn:microsoft.com/office/officeart/2018/2/layout/IconCircleList"/>
    <dgm:cxn modelId="{23D0A047-1C64-4738-B9D4-40998F7FAC4F}" type="presParOf" srcId="{405FD3EA-698D-4DFC-84A1-65B23B3DCE8D}" destId="{68E0EE38-21F6-4228-B5E3-2ED14BFC202B}" srcOrd="0" destOrd="0" presId="urn:microsoft.com/office/officeart/2018/2/layout/IconCircleList"/>
    <dgm:cxn modelId="{E965894F-ED2D-4F0C-8B43-143643ED2C30}" type="presParOf" srcId="{405FD3EA-698D-4DFC-84A1-65B23B3DCE8D}" destId="{5329BC74-2704-48C4-9C06-6A6EBC18DC0E}" srcOrd="1" destOrd="0" presId="urn:microsoft.com/office/officeart/2018/2/layout/IconCircleList"/>
    <dgm:cxn modelId="{7B11C8A9-F228-48ED-9F44-66213474CE06}" type="presParOf" srcId="{405FD3EA-698D-4DFC-84A1-65B23B3DCE8D}" destId="{0A47F2B0-F8E2-4647-BA91-A092C17497FB}" srcOrd="2" destOrd="0" presId="urn:microsoft.com/office/officeart/2018/2/layout/IconCircleList"/>
    <dgm:cxn modelId="{3905587E-FC26-4AD1-86DE-E4D7B85966BA}" type="presParOf" srcId="{405FD3EA-698D-4DFC-84A1-65B23B3DCE8D}" destId="{F33C03C6-41BF-4F67-BDAD-7BB9C6DC1B62}" srcOrd="3" destOrd="0" presId="urn:microsoft.com/office/officeart/2018/2/layout/IconCircleList"/>
    <dgm:cxn modelId="{76D09EA3-CFA9-4F8D-9A12-468A6649E85C}" type="presParOf" srcId="{CB3D11E5-64DE-4173-B4AF-AD94C78FAC3C}" destId="{04E3A65B-BEEF-4A75-B876-7A2868F98100}" srcOrd="9" destOrd="0" presId="urn:microsoft.com/office/officeart/2018/2/layout/IconCircleList"/>
    <dgm:cxn modelId="{3AB321C6-70D3-4FC9-906C-18FCCC421B8A}" type="presParOf" srcId="{CB3D11E5-64DE-4173-B4AF-AD94C78FAC3C}" destId="{D61C6B32-6C49-470D-8FBD-245FECB88391}" srcOrd="10" destOrd="0" presId="urn:microsoft.com/office/officeart/2018/2/layout/IconCircleList"/>
    <dgm:cxn modelId="{2E99A472-AFA3-4B57-8DB3-A3ADD24ED1E6}" type="presParOf" srcId="{D61C6B32-6C49-470D-8FBD-245FECB88391}" destId="{53421D26-5A3F-4C4B-ADB5-64C8F38093C6}" srcOrd="0" destOrd="0" presId="urn:microsoft.com/office/officeart/2018/2/layout/IconCircleList"/>
    <dgm:cxn modelId="{9A55C3EB-1002-4529-B394-32910E19C260}" type="presParOf" srcId="{D61C6B32-6C49-470D-8FBD-245FECB88391}" destId="{9BC68DED-96BF-4726-8AE0-D6A0FCC398D0}" srcOrd="1" destOrd="0" presId="urn:microsoft.com/office/officeart/2018/2/layout/IconCircleList"/>
    <dgm:cxn modelId="{67D56D3D-8800-489D-AA47-E8A5E42FBCC2}" type="presParOf" srcId="{D61C6B32-6C49-470D-8FBD-245FECB88391}" destId="{15A633DA-378F-4E91-9AA5-4F5360E8878D}" srcOrd="2" destOrd="0" presId="urn:microsoft.com/office/officeart/2018/2/layout/IconCircleList"/>
    <dgm:cxn modelId="{A5987E31-9FC5-4329-A990-EFA5322B5D80}" type="presParOf" srcId="{D61C6B32-6C49-470D-8FBD-245FECB88391}" destId="{A4AD6598-518A-4213-9AC6-7C02A54E9A5E}" srcOrd="3" destOrd="0" presId="urn:microsoft.com/office/officeart/2018/2/layout/IconCircleList"/>
    <dgm:cxn modelId="{482DB378-A31B-4396-BF59-3F442F2581E6}" type="presParOf" srcId="{CB3D11E5-64DE-4173-B4AF-AD94C78FAC3C}" destId="{CC0FF284-C2C5-41D9-B64D-338296742091}" srcOrd="11" destOrd="0" presId="urn:microsoft.com/office/officeart/2018/2/layout/IconCircleList"/>
    <dgm:cxn modelId="{99E347AE-60B1-4344-95B9-F35C05F2095D}" type="presParOf" srcId="{CB3D11E5-64DE-4173-B4AF-AD94C78FAC3C}" destId="{19C912E0-9194-482E-AD99-948E2D7A1BE1}" srcOrd="12" destOrd="0" presId="urn:microsoft.com/office/officeart/2018/2/layout/IconCircleList"/>
    <dgm:cxn modelId="{D8FBC7D7-575E-49F4-99A3-8ED29CEC9576}" type="presParOf" srcId="{19C912E0-9194-482E-AD99-948E2D7A1BE1}" destId="{A4A73F06-E573-4991-985D-635645D7446F}" srcOrd="0" destOrd="0" presId="urn:microsoft.com/office/officeart/2018/2/layout/IconCircleList"/>
    <dgm:cxn modelId="{F09AE079-F572-4247-9305-83E379F6A7BB}" type="presParOf" srcId="{19C912E0-9194-482E-AD99-948E2D7A1BE1}" destId="{1ABB12EE-6EBA-48FA-84E3-B8260156B6A3}" srcOrd="1" destOrd="0" presId="urn:microsoft.com/office/officeart/2018/2/layout/IconCircleList"/>
    <dgm:cxn modelId="{E02E8D1F-ECB7-4B01-8CF6-6C7F23FD8891}" type="presParOf" srcId="{19C912E0-9194-482E-AD99-948E2D7A1BE1}" destId="{76F01105-5C5B-49B6-AEF9-6B49E4327E6D}" srcOrd="2" destOrd="0" presId="urn:microsoft.com/office/officeart/2018/2/layout/IconCircleList"/>
    <dgm:cxn modelId="{24481A5B-D8B3-44F8-BD42-EE1CB5E3E3B1}" type="presParOf" srcId="{19C912E0-9194-482E-AD99-948E2D7A1BE1}" destId="{3CF34F4F-73B4-4448-9998-21CE27F7966D}"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80381EC-E758-4471-9B45-B93E4047F32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D04A0CE-7FC1-4B1E-9484-EED65F8D366D}">
      <dgm:prSet>
        <dgm:style>
          <a:lnRef idx="0">
            <a:schemeClr val="accent1"/>
          </a:lnRef>
          <a:fillRef idx="3">
            <a:schemeClr val="accent1"/>
          </a:fillRef>
          <a:effectRef idx="3">
            <a:schemeClr val="accent1"/>
          </a:effectRef>
          <a:fontRef idx="minor">
            <a:schemeClr val="lt1"/>
          </a:fontRef>
        </dgm:style>
      </dgm:prSet>
      <dgm:spPr/>
      <dgm:t>
        <a:bodyPr/>
        <a:lstStyle/>
        <a:p>
          <a:pPr>
            <a:lnSpc>
              <a:spcPct val="100000"/>
            </a:lnSpc>
          </a:pPr>
          <a:r>
            <a:rPr lang="en-US" b="0" i="0" baseline="0" dirty="0">
              <a:solidFill>
                <a:schemeClr val="bg1"/>
              </a:solidFill>
            </a:rPr>
            <a:t>Among all the global baseline models we tested, the </a:t>
          </a:r>
          <a:r>
            <a:rPr lang="en-US" b="1" i="0" baseline="0" dirty="0">
              <a:solidFill>
                <a:schemeClr val="bg1"/>
              </a:solidFill>
            </a:rPr>
            <a:t>Random Forest</a:t>
          </a:r>
          <a:r>
            <a:rPr lang="en-US" b="0" i="0" baseline="0" dirty="0">
              <a:solidFill>
                <a:schemeClr val="bg1"/>
              </a:solidFill>
            </a:rPr>
            <a:t> achieved the best overall performance on the test set.</a:t>
          </a:r>
          <a:endParaRPr lang="en-US" dirty="0">
            <a:solidFill>
              <a:schemeClr val="bg1"/>
            </a:solidFill>
          </a:endParaRPr>
        </a:p>
      </dgm:t>
    </dgm:pt>
    <dgm:pt modelId="{EE8F08A4-56CC-4811-A2CD-9FEF2227CA29}" type="parTrans" cxnId="{E4FD6901-4D76-4538-BF74-AC10AEBA99D5}">
      <dgm:prSet/>
      <dgm:spPr/>
      <dgm:t>
        <a:bodyPr/>
        <a:lstStyle/>
        <a:p>
          <a:endParaRPr lang="en-US"/>
        </a:p>
      </dgm:t>
    </dgm:pt>
    <dgm:pt modelId="{6E425E91-2998-4A66-B783-E92F722B3168}" type="sibTrans" cxnId="{E4FD6901-4D76-4538-BF74-AC10AEBA99D5}">
      <dgm:prSet/>
      <dgm:spPr/>
      <dgm:t>
        <a:bodyPr/>
        <a:lstStyle/>
        <a:p>
          <a:endParaRPr lang="en-US"/>
        </a:p>
      </dgm:t>
    </dgm:pt>
    <dgm:pt modelId="{2FFD03DC-D043-4208-AED9-07F3389FB61D}">
      <dgm:prSet>
        <dgm:style>
          <a:lnRef idx="0">
            <a:schemeClr val="accent1"/>
          </a:lnRef>
          <a:fillRef idx="3">
            <a:schemeClr val="accent1"/>
          </a:fillRef>
          <a:effectRef idx="3">
            <a:schemeClr val="accent1"/>
          </a:effectRef>
          <a:fontRef idx="minor">
            <a:schemeClr val="lt1"/>
          </a:fontRef>
        </dgm:style>
      </dgm:prSet>
      <dgm:spPr/>
      <dgm:t>
        <a:bodyPr/>
        <a:lstStyle/>
        <a:p>
          <a:pPr>
            <a:lnSpc>
              <a:spcPct val="100000"/>
            </a:lnSpc>
          </a:pPr>
          <a:r>
            <a:rPr lang="en-US" b="0" i="0" baseline="0" dirty="0">
              <a:solidFill>
                <a:schemeClr val="bg1"/>
              </a:solidFill>
            </a:rPr>
            <a:t>It provided the strongest combination of </a:t>
          </a:r>
          <a:r>
            <a:rPr lang="en-US" b="1" i="0" baseline="0" dirty="0">
              <a:solidFill>
                <a:schemeClr val="bg1"/>
              </a:solidFill>
            </a:rPr>
            <a:t>accuracy, F1 score, and ROC–AUC</a:t>
          </a:r>
          <a:r>
            <a:rPr lang="en-US" b="0" i="0" baseline="0" dirty="0">
              <a:solidFill>
                <a:schemeClr val="bg1"/>
              </a:solidFill>
            </a:rPr>
            <a:t>, meaning it both classified flights well and separated delayed vs on-time flights effectively.</a:t>
          </a:r>
          <a:endParaRPr lang="en-US" dirty="0">
            <a:solidFill>
              <a:schemeClr val="bg1"/>
            </a:solidFill>
          </a:endParaRPr>
        </a:p>
      </dgm:t>
    </dgm:pt>
    <dgm:pt modelId="{66CD35AB-771D-4830-9FE0-AED64E58C8F5}" type="parTrans" cxnId="{670D051F-D19C-457E-B8FB-58A39BB84547}">
      <dgm:prSet/>
      <dgm:spPr/>
      <dgm:t>
        <a:bodyPr/>
        <a:lstStyle/>
        <a:p>
          <a:endParaRPr lang="en-US"/>
        </a:p>
      </dgm:t>
    </dgm:pt>
    <dgm:pt modelId="{658B75BB-67A0-4A05-9AE3-C13570C625E5}" type="sibTrans" cxnId="{670D051F-D19C-457E-B8FB-58A39BB84547}">
      <dgm:prSet/>
      <dgm:spPr/>
      <dgm:t>
        <a:bodyPr/>
        <a:lstStyle/>
        <a:p>
          <a:endParaRPr lang="en-US"/>
        </a:p>
      </dgm:t>
    </dgm:pt>
    <dgm:pt modelId="{84584150-512A-4513-899A-B27BF1F3AA4E}">
      <dgm:prSet>
        <dgm:style>
          <a:lnRef idx="0">
            <a:schemeClr val="accent1"/>
          </a:lnRef>
          <a:fillRef idx="3">
            <a:schemeClr val="accent1"/>
          </a:fillRef>
          <a:effectRef idx="3">
            <a:schemeClr val="accent1"/>
          </a:effectRef>
          <a:fontRef idx="minor">
            <a:schemeClr val="lt1"/>
          </a:fontRef>
        </dgm:style>
      </dgm:prSet>
      <dgm:spPr/>
      <dgm:t>
        <a:bodyPr/>
        <a:lstStyle/>
        <a:p>
          <a:pPr>
            <a:lnSpc>
              <a:spcPct val="100000"/>
            </a:lnSpc>
          </a:pPr>
          <a:r>
            <a:rPr lang="en-US" b="0" i="0" baseline="0" dirty="0">
              <a:solidFill>
                <a:schemeClr val="bg1"/>
              </a:solidFill>
            </a:rPr>
            <a:t>Compared to simpler models like Logistic Regression and Decision Tree, the Random Forest captured more of the </a:t>
          </a:r>
          <a:r>
            <a:rPr lang="en-US" b="1" i="0" baseline="0" dirty="0">
              <a:solidFill>
                <a:schemeClr val="bg1"/>
              </a:solidFill>
            </a:rPr>
            <a:t>nonlinear relationships</a:t>
          </a:r>
          <a:r>
            <a:rPr lang="en-US" b="0" i="0" baseline="0" dirty="0">
              <a:solidFill>
                <a:schemeClr val="bg1"/>
              </a:solidFill>
            </a:rPr>
            <a:t> between time, route, and delay. Even adding LSTM also Random Forest remains same</a:t>
          </a:r>
          <a:endParaRPr lang="en-US" dirty="0">
            <a:solidFill>
              <a:schemeClr val="bg1"/>
            </a:solidFill>
          </a:endParaRPr>
        </a:p>
      </dgm:t>
    </dgm:pt>
    <dgm:pt modelId="{480D433D-2220-4ED7-A226-FB96F7357C4F}" type="parTrans" cxnId="{1ED9EB1D-AABC-4F08-9A4E-826FAA8B28E1}">
      <dgm:prSet/>
      <dgm:spPr/>
      <dgm:t>
        <a:bodyPr/>
        <a:lstStyle/>
        <a:p>
          <a:endParaRPr lang="en-US"/>
        </a:p>
      </dgm:t>
    </dgm:pt>
    <dgm:pt modelId="{3890F2F2-21BA-454F-B227-45C2B811BF53}" type="sibTrans" cxnId="{1ED9EB1D-AABC-4F08-9A4E-826FAA8B28E1}">
      <dgm:prSet/>
      <dgm:spPr/>
      <dgm:t>
        <a:bodyPr/>
        <a:lstStyle/>
        <a:p>
          <a:endParaRPr lang="en-US"/>
        </a:p>
      </dgm:t>
    </dgm:pt>
    <dgm:pt modelId="{468EFD85-346F-4405-AB6E-A065269122DA}">
      <dgm:prSet>
        <dgm:style>
          <a:lnRef idx="0">
            <a:schemeClr val="accent1"/>
          </a:lnRef>
          <a:fillRef idx="3">
            <a:schemeClr val="accent1"/>
          </a:fillRef>
          <a:effectRef idx="3">
            <a:schemeClr val="accent1"/>
          </a:effectRef>
          <a:fontRef idx="minor">
            <a:schemeClr val="lt1"/>
          </a:fontRef>
        </dgm:style>
      </dgm:prSet>
      <dgm:spPr/>
      <dgm:t>
        <a:bodyPr/>
        <a:lstStyle/>
        <a:p>
          <a:pPr>
            <a:lnSpc>
              <a:spcPct val="100000"/>
            </a:lnSpc>
          </a:pPr>
          <a:r>
            <a:rPr lang="en-US" b="0" i="0" baseline="0" dirty="0">
              <a:solidFill>
                <a:schemeClr val="bg1"/>
              </a:solidFill>
            </a:rPr>
            <a:t>The Random Forest also handled the </a:t>
          </a:r>
          <a:r>
            <a:rPr lang="en-US" b="1" i="0" baseline="0" dirty="0">
              <a:solidFill>
                <a:schemeClr val="bg1"/>
              </a:solidFill>
            </a:rPr>
            <a:t>class imbalance</a:t>
          </a:r>
          <a:r>
            <a:rPr lang="en-US" b="0" i="0" baseline="0" dirty="0">
              <a:solidFill>
                <a:schemeClr val="bg1"/>
              </a:solidFill>
            </a:rPr>
            <a:t> reasonably well when we used class-weight balancing, improving detection of delayed flights.</a:t>
          </a:r>
          <a:endParaRPr lang="en-US" dirty="0">
            <a:solidFill>
              <a:schemeClr val="bg1"/>
            </a:solidFill>
          </a:endParaRPr>
        </a:p>
      </dgm:t>
    </dgm:pt>
    <dgm:pt modelId="{E7F8D4AB-B768-4296-9E98-A1894D80093E}" type="parTrans" cxnId="{F2FE3D4E-5727-40EA-9D73-0BBBB2F5B420}">
      <dgm:prSet/>
      <dgm:spPr/>
      <dgm:t>
        <a:bodyPr/>
        <a:lstStyle/>
        <a:p>
          <a:endParaRPr lang="en-US"/>
        </a:p>
      </dgm:t>
    </dgm:pt>
    <dgm:pt modelId="{0CF9F647-6118-44F9-B36D-AC6C8D418773}" type="sibTrans" cxnId="{F2FE3D4E-5727-40EA-9D73-0BBBB2F5B420}">
      <dgm:prSet/>
      <dgm:spPr/>
      <dgm:t>
        <a:bodyPr/>
        <a:lstStyle/>
        <a:p>
          <a:endParaRPr lang="en-US"/>
        </a:p>
      </dgm:t>
    </dgm:pt>
    <dgm:pt modelId="{1B5CD3AE-7F9B-44D4-8BB7-750C69620942}">
      <dgm:prSet>
        <dgm:style>
          <a:lnRef idx="0">
            <a:schemeClr val="accent1"/>
          </a:lnRef>
          <a:fillRef idx="3">
            <a:schemeClr val="accent1"/>
          </a:fillRef>
          <a:effectRef idx="3">
            <a:schemeClr val="accent1"/>
          </a:effectRef>
          <a:fontRef idx="minor">
            <a:schemeClr val="lt1"/>
          </a:fontRef>
        </dgm:style>
      </dgm:prSet>
      <dgm:spPr/>
      <dgm:t>
        <a:bodyPr/>
        <a:lstStyle/>
        <a:p>
          <a:pPr>
            <a:lnSpc>
              <a:spcPct val="100000"/>
            </a:lnSpc>
          </a:pPr>
          <a:r>
            <a:rPr lang="en-US" b="0" i="0" baseline="0" dirty="0">
              <a:solidFill>
                <a:schemeClr val="bg1"/>
              </a:solidFill>
            </a:rPr>
            <a:t>Because of this performance, we treat the </a:t>
          </a:r>
          <a:r>
            <a:rPr lang="en-US" b="1" i="0" baseline="0" dirty="0">
              <a:solidFill>
                <a:schemeClr val="bg1"/>
              </a:solidFill>
            </a:rPr>
            <a:t>global Random Forest as our main baseline</a:t>
          </a:r>
          <a:r>
            <a:rPr lang="en-US" b="0" i="0" baseline="0" dirty="0">
              <a:solidFill>
                <a:schemeClr val="bg1"/>
              </a:solidFill>
            </a:rPr>
            <a:t> to compare against the Cluster-Specific Ensemble.</a:t>
          </a:r>
          <a:endParaRPr lang="en-US" dirty="0">
            <a:solidFill>
              <a:schemeClr val="bg1"/>
            </a:solidFill>
          </a:endParaRPr>
        </a:p>
      </dgm:t>
    </dgm:pt>
    <dgm:pt modelId="{887D0EA8-8F7B-4716-A9D6-9CFCDB9110EF}" type="parTrans" cxnId="{D6CF42E0-67EF-4402-88B5-6939C8F15A5D}">
      <dgm:prSet/>
      <dgm:spPr/>
      <dgm:t>
        <a:bodyPr/>
        <a:lstStyle/>
        <a:p>
          <a:endParaRPr lang="en-US"/>
        </a:p>
      </dgm:t>
    </dgm:pt>
    <dgm:pt modelId="{2CBC5F25-73C9-4B02-82A9-AB3872CA5008}" type="sibTrans" cxnId="{D6CF42E0-67EF-4402-88B5-6939C8F15A5D}">
      <dgm:prSet/>
      <dgm:spPr/>
      <dgm:t>
        <a:bodyPr/>
        <a:lstStyle/>
        <a:p>
          <a:endParaRPr lang="en-US"/>
        </a:p>
      </dgm:t>
    </dgm:pt>
    <dgm:pt modelId="{57802BE3-B7A3-4788-8119-752FB584A72F}" type="pres">
      <dgm:prSet presAssocID="{B80381EC-E758-4471-9B45-B93E4047F321}" presName="root" presStyleCnt="0">
        <dgm:presLayoutVars>
          <dgm:dir/>
          <dgm:resizeHandles val="exact"/>
        </dgm:presLayoutVars>
      </dgm:prSet>
      <dgm:spPr/>
    </dgm:pt>
    <dgm:pt modelId="{31F44B63-7A39-4CBA-9CBB-AAE7B1B8F5C4}" type="pres">
      <dgm:prSet presAssocID="{7D04A0CE-7FC1-4B1E-9484-EED65F8D366D}" presName="compNode" presStyleCnt="0"/>
      <dgm:spPr/>
    </dgm:pt>
    <dgm:pt modelId="{D9B7934B-55C7-48A5-9CF3-530F8F47A629}" type="pres">
      <dgm:prSet presAssocID="{7D04A0CE-7FC1-4B1E-9484-EED65F8D366D}" presName="bgRect" presStyleLbl="bgShp" presStyleIdx="0" presStyleCnt="5"/>
      <dgm:spPr/>
    </dgm:pt>
    <dgm:pt modelId="{49E131B0-BC5E-402A-9C83-67E1E260C522}" type="pres">
      <dgm:prSet presAssocID="{7D04A0CE-7FC1-4B1E-9484-EED65F8D366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rest scene"/>
        </a:ext>
      </dgm:extLst>
    </dgm:pt>
    <dgm:pt modelId="{0CE808C3-7DB6-4FD7-B488-2F9D4FBA61B9}" type="pres">
      <dgm:prSet presAssocID="{7D04A0CE-7FC1-4B1E-9484-EED65F8D366D}" presName="spaceRect" presStyleCnt="0"/>
      <dgm:spPr/>
    </dgm:pt>
    <dgm:pt modelId="{E34EF939-788E-4266-978B-0280B8512B26}" type="pres">
      <dgm:prSet presAssocID="{7D04A0CE-7FC1-4B1E-9484-EED65F8D366D}" presName="parTx" presStyleLbl="revTx" presStyleIdx="0" presStyleCnt="5" custLinFactNeighborX="5778" custLinFactNeighborY="-4347">
        <dgm:presLayoutVars>
          <dgm:chMax val="0"/>
          <dgm:chPref val="0"/>
        </dgm:presLayoutVars>
      </dgm:prSet>
      <dgm:spPr/>
    </dgm:pt>
    <dgm:pt modelId="{DFB205B4-CCFE-4987-B6D4-77BF89A529E3}" type="pres">
      <dgm:prSet presAssocID="{6E425E91-2998-4A66-B783-E92F722B3168}" presName="sibTrans" presStyleCnt="0"/>
      <dgm:spPr/>
    </dgm:pt>
    <dgm:pt modelId="{52A165E6-0C1E-48A5-B0B6-C77375DB6790}" type="pres">
      <dgm:prSet presAssocID="{2FFD03DC-D043-4208-AED9-07F3389FB61D}" presName="compNode" presStyleCnt="0"/>
      <dgm:spPr/>
    </dgm:pt>
    <dgm:pt modelId="{57C37123-43FC-4040-A1D2-B8D49EA14837}" type="pres">
      <dgm:prSet presAssocID="{2FFD03DC-D043-4208-AED9-07F3389FB61D}" presName="bgRect" presStyleLbl="bgShp" presStyleIdx="1" presStyleCnt="5"/>
      <dgm:spPr/>
    </dgm:pt>
    <dgm:pt modelId="{61CC2032-B72D-48E2-BF6A-8BA788054061}" type="pres">
      <dgm:prSet presAssocID="{2FFD03DC-D043-4208-AED9-07F3389FB61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ilot"/>
        </a:ext>
      </dgm:extLst>
    </dgm:pt>
    <dgm:pt modelId="{29570B0C-6DB0-49B7-B3E9-499EC712CB42}" type="pres">
      <dgm:prSet presAssocID="{2FFD03DC-D043-4208-AED9-07F3389FB61D}" presName="spaceRect" presStyleCnt="0"/>
      <dgm:spPr/>
    </dgm:pt>
    <dgm:pt modelId="{1A2DDC7F-F495-4CDC-9E5E-FFBBCF4838B4}" type="pres">
      <dgm:prSet presAssocID="{2FFD03DC-D043-4208-AED9-07F3389FB61D}" presName="parTx" presStyleLbl="revTx" presStyleIdx="1" presStyleCnt="5" custLinFactNeighborX="5455" custLinFactNeighborY="-14586">
        <dgm:presLayoutVars>
          <dgm:chMax val="0"/>
          <dgm:chPref val="0"/>
        </dgm:presLayoutVars>
      </dgm:prSet>
      <dgm:spPr/>
    </dgm:pt>
    <dgm:pt modelId="{5600C763-44F2-41BC-BC5C-E7FD15CE2BC7}" type="pres">
      <dgm:prSet presAssocID="{658B75BB-67A0-4A05-9AE3-C13570C625E5}" presName="sibTrans" presStyleCnt="0"/>
      <dgm:spPr/>
    </dgm:pt>
    <dgm:pt modelId="{458915AB-98BE-4566-A87E-B00B19C16ED9}" type="pres">
      <dgm:prSet presAssocID="{84584150-512A-4513-899A-B27BF1F3AA4E}" presName="compNode" presStyleCnt="0"/>
      <dgm:spPr/>
    </dgm:pt>
    <dgm:pt modelId="{6F4C816A-1AC2-423E-89DA-1C8F6EF4A955}" type="pres">
      <dgm:prSet presAssocID="{84584150-512A-4513-899A-B27BF1F3AA4E}" presName="bgRect" presStyleLbl="bgShp" presStyleIdx="2" presStyleCnt="5"/>
      <dgm:spPr/>
    </dgm:pt>
    <dgm:pt modelId="{8D7CB6AB-761C-43E7-A086-44A7AA8F519B}" type="pres">
      <dgm:prSet presAssocID="{84584150-512A-4513-899A-B27BF1F3AA4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ark scene"/>
        </a:ext>
      </dgm:extLst>
    </dgm:pt>
    <dgm:pt modelId="{845E8B78-9FA1-4584-AE0F-21DC7727FCE9}" type="pres">
      <dgm:prSet presAssocID="{84584150-512A-4513-899A-B27BF1F3AA4E}" presName="spaceRect" presStyleCnt="0"/>
      <dgm:spPr/>
    </dgm:pt>
    <dgm:pt modelId="{994AD213-606C-4B7D-BF23-2C0B6DB35638}" type="pres">
      <dgm:prSet presAssocID="{84584150-512A-4513-899A-B27BF1F3AA4E}" presName="parTx" presStyleLbl="revTx" presStyleIdx="2" presStyleCnt="5" custScaleX="101549" custLinFactNeighborX="4567" custLinFactNeighborY="-8509">
        <dgm:presLayoutVars>
          <dgm:chMax val="0"/>
          <dgm:chPref val="0"/>
        </dgm:presLayoutVars>
      </dgm:prSet>
      <dgm:spPr/>
    </dgm:pt>
    <dgm:pt modelId="{538D62CC-7E22-4868-88C5-E76349CAEDB3}" type="pres">
      <dgm:prSet presAssocID="{3890F2F2-21BA-454F-B227-45C2B811BF53}" presName="sibTrans" presStyleCnt="0"/>
      <dgm:spPr/>
    </dgm:pt>
    <dgm:pt modelId="{93933B48-C228-453C-A344-E95B13595CAC}" type="pres">
      <dgm:prSet presAssocID="{468EFD85-346F-4405-AB6E-A065269122DA}" presName="compNode" presStyleCnt="0"/>
      <dgm:spPr/>
    </dgm:pt>
    <dgm:pt modelId="{2397C3CE-A6DC-4FC2-8EF2-63798EA0F164}" type="pres">
      <dgm:prSet presAssocID="{468EFD85-346F-4405-AB6E-A065269122DA}" presName="bgRect" presStyleLbl="bgShp" presStyleIdx="3" presStyleCnt="5"/>
      <dgm:spPr/>
    </dgm:pt>
    <dgm:pt modelId="{5D59323D-2227-4A68-A359-9BAA1FEA7127}" type="pres">
      <dgm:prSet presAssocID="{468EFD85-346F-4405-AB6E-A065269122D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licopter"/>
        </a:ext>
      </dgm:extLst>
    </dgm:pt>
    <dgm:pt modelId="{9DFA2679-110C-43DE-825A-E39D23707C0F}" type="pres">
      <dgm:prSet presAssocID="{468EFD85-346F-4405-AB6E-A065269122DA}" presName="spaceRect" presStyleCnt="0"/>
      <dgm:spPr/>
    </dgm:pt>
    <dgm:pt modelId="{1486C5D0-06CE-45D6-9D6D-B7616E858787}" type="pres">
      <dgm:prSet presAssocID="{468EFD85-346F-4405-AB6E-A065269122DA}" presName="parTx" presStyleLbl="revTx" presStyleIdx="3" presStyleCnt="5" custLinFactNeighborX="5456" custLinFactNeighborY="-8509">
        <dgm:presLayoutVars>
          <dgm:chMax val="0"/>
          <dgm:chPref val="0"/>
        </dgm:presLayoutVars>
      </dgm:prSet>
      <dgm:spPr/>
    </dgm:pt>
    <dgm:pt modelId="{2129DE5D-858B-4993-A759-7C28FA50E84E}" type="pres">
      <dgm:prSet presAssocID="{0CF9F647-6118-44F9-B36D-AC6C8D418773}" presName="sibTrans" presStyleCnt="0"/>
      <dgm:spPr/>
    </dgm:pt>
    <dgm:pt modelId="{0A546E9A-CC20-44EF-AD1B-CFDC2FFF979F}" type="pres">
      <dgm:prSet presAssocID="{1B5CD3AE-7F9B-44D4-8BB7-750C69620942}" presName="compNode" presStyleCnt="0"/>
      <dgm:spPr/>
    </dgm:pt>
    <dgm:pt modelId="{6CE894CF-9F59-4200-BE89-1054B9F6A660}" type="pres">
      <dgm:prSet presAssocID="{1B5CD3AE-7F9B-44D4-8BB7-750C69620942}" presName="bgRect" presStyleLbl="bgShp" presStyleIdx="4" presStyleCnt="5"/>
      <dgm:spPr/>
    </dgm:pt>
    <dgm:pt modelId="{BB3C7E00-0717-48BF-B43A-C8B7CC0A14F1}" type="pres">
      <dgm:prSet presAssocID="{1B5CD3AE-7F9B-44D4-8BB7-750C6962094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Acorn"/>
        </a:ext>
      </dgm:extLst>
    </dgm:pt>
    <dgm:pt modelId="{F810B3CB-4F52-4306-85DE-028CDCE1F9BB}" type="pres">
      <dgm:prSet presAssocID="{1B5CD3AE-7F9B-44D4-8BB7-750C69620942}" presName="spaceRect" presStyleCnt="0"/>
      <dgm:spPr/>
    </dgm:pt>
    <dgm:pt modelId="{502BEB5F-B2CA-4DF9-85FA-A18D674735BB}" type="pres">
      <dgm:prSet presAssocID="{1B5CD3AE-7F9B-44D4-8BB7-750C69620942}" presName="parTx" presStyleLbl="revTx" presStyleIdx="4" presStyleCnt="5" custLinFactNeighborX="5019" custLinFactNeighborY="981">
        <dgm:presLayoutVars>
          <dgm:chMax val="0"/>
          <dgm:chPref val="0"/>
        </dgm:presLayoutVars>
      </dgm:prSet>
      <dgm:spPr/>
    </dgm:pt>
  </dgm:ptLst>
  <dgm:cxnLst>
    <dgm:cxn modelId="{E4FD6901-4D76-4538-BF74-AC10AEBA99D5}" srcId="{B80381EC-E758-4471-9B45-B93E4047F321}" destId="{7D04A0CE-7FC1-4B1E-9484-EED65F8D366D}" srcOrd="0" destOrd="0" parTransId="{EE8F08A4-56CC-4811-A2CD-9FEF2227CA29}" sibTransId="{6E425E91-2998-4A66-B783-E92F722B3168}"/>
    <dgm:cxn modelId="{7627E70A-E2F6-4C0D-8DC4-E8FC3393E473}" type="presOf" srcId="{2FFD03DC-D043-4208-AED9-07F3389FB61D}" destId="{1A2DDC7F-F495-4CDC-9E5E-FFBBCF4838B4}" srcOrd="0" destOrd="0" presId="urn:microsoft.com/office/officeart/2018/2/layout/IconVerticalSolidList"/>
    <dgm:cxn modelId="{7065D51D-A536-4FF1-B8BC-BE5B01269D5E}" type="presOf" srcId="{1B5CD3AE-7F9B-44D4-8BB7-750C69620942}" destId="{502BEB5F-B2CA-4DF9-85FA-A18D674735BB}" srcOrd="0" destOrd="0" presId="urn:microsoft.com/office/officeart/2018/2/layout/IconVerticalSolidList"/>
    <dgm:cxn modelId="{1ED9EB1D-AABC-4F08-9A4E-826FAA8B28E1}" srcId="{B80381EC-E758-4471-9B45-B93E4047F321}" destId="{84584150-512A-4513-899A-B27BF1F3AA4E}" srcOrd="2" destOrd="0" parTransId="{480D433D-2220-4ED7-A226-FB96F7357C4F}" sibTransId="{3890F2F2-21BA-454F-B227-45C2B811BF53}"/>
    <dgm:cxn modelId="{670D051F-D19C-457E-B8FB-58A39BB84547}" srcId="{B80381EC-E758-4471-9B45-B93E4047F321}" destId="{2FFD03DC-D043-4208-AED9-07F3389FB61D}" srcOrd="1" destOrd="0" parTransId="{66CD35AB-771D-4830-9FE0-AED64E58C8F5}" sibTransId="{658B75BB-67A0-4A05-9AE3-C13570C625E5}"/>
    <dgm:cxn modelId="{49238A67-F9FD-4C7E-BBAC-C69F7E56138E}" type="presOf" srcId="{B80381EC-E758-4471-9B45-B93E4047F321}" destId="{57802BE3-B7A3-4788-8119-752FB584A72F}" srcOrd="0" destOrd="0" presId="urn:microsoft.com/office/officeart/2018/2/layout/IconVerticalSolidList"/>
    <dgm:cxn modelId="{F2FE3D4E-5727-40EA-9D73-0BBBB2F5B420}" srcId="{B80381EC-E758-4471-9B45-B93E4047F321}" destId="{468EFD85-346F-4405-AB6E-A065269122DA}" srcOrd="3" destOrd="0" parTransId="{E7F8D4AB-B768-4296-9E98-A1894D80093E}" sibTransId="{0CF9F647-6118-44F9-B36D-AC6C8D418773}"/>
    <dgm:cxn modelId="{A39DA778-BED5-4ED9-BDE0-0E751B8E2DA1}" type="presOf" srcId="{468EFD85-346F-4405-AB6E-A065269122DA}" destId="{1486C5D0-06CE-45D6-9D6D-B7616E858787}" srcOrd="0" destOrd="0" presId="urn:microsoft.com/office/officeart/2018/2/layout/IconVerticalSolidList"/>
    <dgm:cxn modelId="{3BD1A3D2-EB7A-41D5-A767-DC2EA47CA65E}" type="presOf" srcId="{7D04A0CE-7FC1-4B1E-9484-EED65F8D366D}" destId="{E34EF939-788E-4266-978B-0280B8512B26}" srcOrd="0" destOrd="0" presId="urn:microsoft.com/office/officeart/2018/2/layout/IconVerticalSolidList"/>
    <dgm:cxn modelId="{D6CF42E0-67EF-4402-88B5-6939C8F15A5D}" srcId="{B80381EC-E758-4471-9B45-B93E4047F321}" destId="{1B5CD3AE-7F9B-44D4-8BB7-750C69620942}" srcOrd="4" destOrd="0" parTransId="{887D0EA8-8F7B-4716-A9D6-9CFCDB9110EF}" sibTransId="{2CBC5F25-73C9-4B02-82A9-AB3872CA5008}"/>
    <dgm:cxn modelId="{72464FE3-FB76-4E48-B0FC-A805F7F1A020}" type="presOf" srcId="{84584150-512A-4513-899A-B27BF1F3AA4E}" destId="{994AD213-606C-4B7D-BF23-2C0B6DB35638}" srcOrd="0" destOrd="0" presId="urn:microsoft.com/office/officeart/2018/2/layout/IconVerticalSolidList"/>
    <dgm:cxn modelId="{B8968FB5-CA17-411A-8693-6AF59B439C4C}" type="presParOf" srcId="{57802BE3-B7A3-4788-8119-752FB584A72F}" destId="{31F44B63-7A39-4CBA-9CBB-AAE7B1B8F5C4}" srcOrd="0" destOrd="0" presId="urn:microsoft.com/office/officeart/2018/2/layout/IconVerticalSolidList"/>
    <dgm:cxn modelId="{50E2F72D-F2C0-43C1-AE64-8A91E93F2076}" type="presParOf" srcId="{31F44B63-7A39-4CBA-9CBB-AAE7B1B8F5C4}" destId="{D9B7934B-55C7-48A5-9CF3-530F8F47A629}" srcOrd="0" destOrd="0" presId="urn:microsoft.com/office/officeart/2018/2/layout/IconVerticalSolidList"/>
    <dgm:cxn modelId="{5DA40160-D0FB-4343-B662-ED5F6EFCABB1}" type="presParOf" srcId="{31F44B63-7A39-4CBA-9CBB-AAE7B1B8F5C4}" destId="{49E131B0-BC5E-402A-9C83-67E1E260C522}" srcOrd="1" destOrd="0" presId="urn:microsoft.com/office/officeart/2018/2/layout/IconVerticalSolidList"/>
    <dgm:cxn modelId="{23764ABE-4C16-45D1-BAE4-D13D3F4129FD}" type="presParOf" srcId="{31F44B63-7A39-4CBA-9CBB-AAE7B1B8F5C4}" destId="{0CE808C3-7DB6-4FD7-B488-2F9D4FBA61B9}" srcOrd="2" destOrd="0" presId="urn:microsoft.com/office/officeart/2018/2/layout/IconVerticalSolidList"/>
    <dgm:cxn modelId="{5F2D609B-C580-4A2B-87FB-70F405A1C2F3}" type="presParOf" srcId="{31F44B63-7A39-4CBA-9CBB-AAE7B1B8F5C4}" destId="{E34EF939-788E-4266-978B-0280B8512B26}" srcOrd="3" destOrd="0" presId="urn:microsoft.com/office/officeart/2018/2/layout/IconVerticalSolidList"/>
    <dgm:cxn modelId="{AB15E082-1D2D-40B8-9E45-8AB951849D13}" type="presParOf" srcId="{57802BE3-B7A3-4788-8119-752FB584A72F}" destId="{DFB205B4-CCFE-4987-B6D4-77BF89A529E3}" srcOrd="1" destOrd="0" presId="urn:microsoft.com/office/officeart/2018/2/layout/IconVerticalSolidList"/>
    <dgm:cxn modelId="{892CEC47-A1BB-4D04-A6CA-CEA1FFA8F72A}" type="presParOf" srcId="{57802BE3-B7A3-4788-8119-752FB584A72F}" destId="{52A165E6-0C1E-48A5-B0B6-C77375DB6790}" srcOrd="2" destOrd="0" presId="urn:microsoft.com/office/officeart/2018/2/layout/IconVerticalSolidList"/>
    <dgm:cxn modelId="{FE7F2B6E-6C39-48A2-A720-2BABC3770338}" type="presParOf" srcId="{52A165E6-0C1E-48A5-B0B6-C77375DB6790}" destId="{57C37123-43FC-4040-A1D2-B8D49EA14837}" srcOrd="0" destOrd="0" presId="urn:microsoft.com/office/officeart/2018/2/layout/IconVerticalSolidList"/>
    <dgm:cxn modelId="{A08043B1-DF2E-42E4-A459-F6102AD8B929}" type="presParOf" srcId="{52A165E6-0C1E-48A5-B0B6-C77375DB6790}" destId="{61CC2032-B72D-48E2-BF6A-8BA788054061}" srcOrd="1" destOrd="0" presId="urn:microsoft.com/office/officeart/2018/2/layout/IconVerticalSolidList"/>
    <dgm:cxn modelId="{23557092-5C71-4319-9DFC-D5EB320C5984}" type="presParOf" srcId="{52A165E6-0C1E-48A5-B0B6-C77375DB6790}" destId="{29570B0C-6DB0-49B7-B3E9-499EC712CB42}" srcOrd="2" destOrd="0" presId="urn:microsoft.com/office/officeart/2018/2/layout/IconVerticalSolidList"/>
    <dgm:cxn modelId="{7C2865F4-A0C6-4CCE-9883-B0AC90D55F2A}" type="presParOf" srcId="{52A165E6-0C1E-48A5-B0B6-C77375DB6790}" destId="{1A2DDC7F-F495-4CDC-9E5E-FFBBCF4838B4}" srcOrd="3" destOrd="0" presId="urn:microsoft.com/office/officeart/2018/2/layout/IconVerticalSolidList"/>
    <dgm:cxn modelId="{E0B10CA7-94BC-4002-A730-7917536728BC}" type="presParOf" srcId="{57802BE3-B7A3-4788-8119-752FB584A72F}" destId="{5600C763-44F2-41BC-BC5C-E7FD15CE2BC7}" srcOrd="3" destOrd="0" presId="urn:microsoft.com/office/officeart/2018/2/layout/IconVerticalSolidList"/>
    <dgm:cxn modelId="{95651D25-20B2-4F4A-866C-BF20E917D2EE}" type="presParOf" srcId="{57802BE3-B7A3-4788-8119-752FB584A72F}" destId="{458915AB-98BE-4566-A87E-B00B19C16ED9}" srcOrd="4" destOrd="0" presId="urn:microsoft.com/office/officeart/2018/2/layout/IconVerticalSolidList"/>
    <dgm:cxn modelId="{43288CF7-DE7C-4327-8E15-A43145B2CDD5}" type="presParOf" srcId="{458915AB-98BE-4566-A87E-B00B19C16ED9}" destId="{6F4C816A-1AC2-423E-89DA-1C8F6EF4A955}" srcOrd="0" destOrd="0" presId="urn:microsoft.com/office/officeart/2018/2/layout/IconVerticalSolidList"/>
    <dgm:cxn modelId="{6EC4BA52-7737-47B9-8558-D8B533EB1B65}" type="presParOf" srcId="{458915AB-98BE-4566-A87E-B00B19C16ED9}" destId="{8D7CB6AB-761C-43E7-A086-44A7AA8F519B}" srcOrd="1" destOrd="0" presId="urn:microsoft.com/office/officeart/2018/2/layout/IconVerticalSolidList"/>
    <dgm:cxn modelId="{E0A9A987-64A0-48E8-A378-E52861DCF8F0}" type="presParOf" srcId="{458915AB-98BE-4566-A87E-B00B19C16ED9}" destId="{845E8B78-9FA1-4584-AE0F-21DC7727FCE9}" srcOrd="2" destOrd="0" presId="urn:microsoft.com/office/officeart/2018/2/layout/IconVerticalSolidList"/>
    <dgm:cxn modelId="{BD18EE94-3110-4487-AF22-EF381B924379}" type="presParOf" srcId="{458915AB-98BE-4566-A87E-B00B19C16ED9}" destId="{994AD213-606C-4B7D-BF23-2C0B6DB35638}" srcOrd="3" destOrd="0" presId="urn:microsoft.com/office/officeart/2018/2/layout/IconVerticalSolidList"/>
    <dgm:cxn modelId="{3D131D6F-ABBD-4287-A677-4217288F1714}" type="presParOf" srcId="{57802BE3-B7A3-4788-8119-752FB584A72F}" destId="{538D62CC-7E22-4868-88C5-E76349CAEDB3}" srcOrd="5" destOrd="0" presId="urn:microsoft.com/office/officeart/2018/2/layout/IconVerticalSolidList"/>
    <dgm:cxn modelId="{4B3469F9-E48A-4404-B935-AD0F3049BD05}" type="presParOf" srcId="{57802BE3-B7A3-4788-8119-752FB584A72F}" destId="{93933B48-C228-453C-A344-E95B13595CAC}" srcOrd="6" destOrd="0" presId="urn:microsoft.com/office/officeart/2018/2/layout/IconVerticalSolidList"/>
    <dgm:cxn modelId="{D3BFD845-C2E0-4D83-8079-B80B61CB3E4F}" type="presParOf" srcId="{93933B48-C228-453C-A344-E95B13595CAC}" destId="{2397C3CE-A6DC-4FC2-8EF2-63798EA0F164}" srcOrd="0" destOrd="0" presId="urn:microsoft.com/office/officeart/2018/2/layout/IconVerticalSolidList"/>
    <dgm:cxn modelId="{A1969E7D-6838-4EFD-812B-CFA3510317DE}" type="presParOf" srcId="{93933B48-C228-453C-A344-E95B13595CAC}" destId="{5D59323D-2227-4A68-A359-9BAA1FEA7127}" srcOrd="1" destOrd="0" presId="urn:microsoft.com/office/officeart/2018/2/layout/IconVerticalSolidList"/>
    <dgm:cxn modelId="{088E3F1E-CD29-4DC3-BDF2-30BBF09CA408}" type="presParOf" srcId="{93933B48-C228-453C-A344-E95B13595CAC}" destId="{9DFA2679-110C-43DE-825A-E39D23707C0F}" srcOrd="2" destOrd="0" presId="urn:microsoft.com/office/officeart/2018/2/layout/IconVerticalSolidList"/>
    <dgm:cxn modelId="{25A6FE88-6D50-4B2A-9009-6ED33D273180}" type="presParOf" srcId="{93933B48-C228-453C-A344-E95B13595CAC}" destId="{1486C5D0-06CE-45D6-9D6D-B7616E858787}" srcOrd="3" destOrd="0" presId="urn:microsoft.com/office/officeart/2018/2/layout/IconVerticalSolidList"/>
    <dgm:cxn modelId="{DF8C6ED2-F02B-4C4F-9525-C5DD2B95316B}" type="presParOf" srcId="{57802BE3-B7A3-4788-8119-752FB584A72F}" destId="{2129DE5D-858B-4993-A759-7C28FA50E84E}" srcOrd="7" destOrd="0" presId="urn:microsoft.com/office/officeart/2018/2/layout/IconVerticalSolidList"/>
    <dgm:cxn modelId="{60472FDA-FADB-4DFF-AD66-DFB828EFAEDA}" type="presParOf" srcId="{57802BE3-B7A3-4788-8119-752FB584A72F}" destId="{0A546E9A-CC20-44EF-AD1B-CFDC2FFF979F}" srcOrd="8" destOrd="0" presId="urn:microsoft.com/office/officeart/2018/2/layout/IconVerticalSolidList"/>
    <dgm:cxn modelId="{BEE596D6-3D8A-4EB7-8D1D-8D3BE0C26276}" type="presParOf" srcId="{0A546E9A-CC20-44EF-AD1B-CFDC2FFF979F}" destId="{6CE894CF-9F59-4200-BE89-1054B9F6A660}" srcOrd="0" destOrd="0" presId="urn:microsoft.com/office/officeart/2018/2/layout/IconVerticalSolidList"/>
    <dgm:cxn modelId="{DA686995-EC1A-4F66-8F60-4313C2A1689D}" type="presParOf" srcId="{0A546E9A-CC20-44EF-AD1B-CFDC2FFF979F}" destId="{BB3C7E00-0717-48BF-B43A-C8B7CC0A14F1}" srcOrd="1" destOrd="0" presId="urn:microsoft.com/office/officeart/2018/2/layout/IconVerticalSolidList"/>
    <dgm:cxn modelId="{5AAAADA8-9B65-47B2-8681-1120B648938E}" type="presParOf" srcId="{0A546E9A-CC20-44EF-AD1B-CFDC2FFF979F}" destId="{F810B3CB-4F52-4306-85DE-028CDCE1F9BB}" srcOrd="2" destOrd="0" presId="urn:microsoft.com/office/officeart/2018/2/layout/IconVerticalSolidList"/>
    <dgm:cxn modelId="{5DA45598-77FD-4195-8105-ABDB76EB31B5}" type="presParOf" srcId="{0A546E9A-CC20-44EF-AD1B-CFDC2FFF979F}" destId="{502BEB5F-B2CA-4DF9-85FA-A18D674735B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C2E361-AA4F-4D0B-ABA5-77FCCE913CAE}">
      <dsp:nvSpPr>
        <dsp:cNvPr id="0" name=""/>
        <dsp:cNvSpPr/>
      </dsp:nvSpPr>
      <dsp:spPr>
        <a:xfrm>
          <a:off x="552137" y="371425"/>
          <a:ext cx="2735356" cy="108185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 Goal</a:t>
          </a:r>
          <a:br>
            <a:rPr lang="en-US" sz="1400" kern="1200" dirty="0"/>
          </a:br>
          <a:r>
            <a:rPr lang="en-US" sz="1400" kern="1200" dirty="0"/>
            <a:t>Our goal is to predict whether a flight will be delayed by more than 15 minutes at arrival.</a:t>
          </a:r>
        </a:p>
      </dsp:txBody>
      <dsp:txXfrm>
        <a:off x="552137" y="371425"/>
        <a:ext cx="2735356" cy="1081852"/>
      </dsp:txXfrm>
    </dsp:sp>
    <dsp:sp modelId="{2E8ED8B9-AB10-4806-9FD9-CDB64441495E}">
      <dsp:nvSpPr>
        <dsp:cNvPr id="0" name=""/>
        <dsp:cNvSpPr/>
      </dsp:nvSpPr>
      <dsp:spPr>
        <a:xfrm>
          <a:off x="3590947" y="1992"/>
          <a:ext cx="3034531" cy="1820718"/>
        </a:xfrm>
        <a:prstGeom prst="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 Type of Problem</a:t>
          </a:r>
          <a:br>
            <a:rPr lang="en-US" sz="1400" kern="1200" dirty="0"/>
          </a:br>
          <a:r>
            <a:rPr lang="en-US" sz="1400" kern="1200" dirty="0"/>
            <a:t>We model this as a binary classification problem, where label 0 represents an on-time flight and label 1 represents a flight that is delayed by more than 15 minutes.</a:t>
          </a:r>
        </a:p>
      </dsp:txBody>
      <dsp:txXfrm>
        <a:off x="3590947" y="1992"/>
        <a:ext cx="3034531" cy="1820718"/>
      </dsp:txXfrm>
    </dsp:sp>
    <dsp:sp modelId="{2C048EC1-F42D-42B8-878A-D7E4E8A8CAFE}">
      <dsp:nvSpPr>
        <dsp:cNvPr id="0" name=""/>
        <dsp:cNvSpPr/>
      </dsp:nvSpPr>
      <dsp:spPr>
        <a:xfrm>
          <a:off x="6928931" y="1992"/>
          <a:ext cx="3034531" cy="1820718"/>
        </a:xfrm>
        <a:prstGeom prst="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 Inputs (Pre-Departure Only)</a:t>
          </a:r>
          <a:br>
            <a:rPr lang="en-US" sz="1400" kern="1200" dirty="0"/>
          </a:br>
          <a:r>
            <a:rPr lang="en-US" sz="1400" kern="1200" dirty="0"/>
            <a:t>We use only pre-departure information as input features, including the marketing airline, the origin and destination airports, the month and day of week, the scheduled departure time converted to minutes, and the flight distance.</a:t>
          </a:r>
        </a:p>
      </dsp:txBody>
      <dsp:txXfrm>
        <a:off x="6928931" y="1992"/>
        <a:ext cx="3034531" cy="1820718"/>
      </dsp:txXfrm>
    </dsp:sp>
    <dsp:sp modelId="{62C2BAAA-71CB-4A61-98A9-DCABC9A8492C}">
      <dsp:nvSpPr>
        <dsp:cNvPr id="0" name=""/>
        <dsp:cNvSpPr/>
      </dsp:nvSpPr>
      <dsp:spPr>
        <a:xfrm>
          <a:off x="2148407" y="2452637"/>
          <a:ext cx="2880801" cy="1167772"/>
        </a:xfrm>
        <a:prstGeom prst="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 Data Challenge</a:t>
          </a:r>
          <a:br>
            <a:rPr lang="en-US" sz="1400" kern="1200" dirty="0"/>
          </a:br>
          <a:r>
            <a:rPr lang="en-US" sz="1400" kern="1200" dirty="0"/>
            <a:t>The data are imbalanced, because most flights in the dataset arrive on time and only a smaller portion are delayed.</a:t>
          </a:r>
        </a:p>
      </dsp:txBody>
      <dsp:txXfrm>
        <a:off x="2148407" y="2452637"/>
        <a:ext cx="2880801" cy="1167772"/>
      </dsp:txXfrm>
    </dsp:sp>
    <dsp:sp modelId="{EC6FCAA6-920E-47A8-9F35-F107DF25C37A}">
      <dsp:nvSpPr>
        <dsp:cNvPr id="0" name=""/>
        <dsp:cNvSpPr/>
      </dsp:nvSpPr>
      <dsp:spPr>
        <a:xfrm>
          <a:off x="5332661" y="2126164"/>
          <a:ext cx="3034531" cy="1820718"/>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 – Modeling Challenge</a:t>
          </a:r>
          <a:br>
            <a:rPr lang="en-US" sz="1400" kern="1200" dirty="0"/>
          </a:br>
          <a:r>
            <a:rPr lang="en-US" sz="1400" kern="1200" dirty="0"/>
            <a:t>Delay behavior varies by route, airline, season, and time of day, which makes the prediction task more difficult for a single global model.</a:t>
          </a:r>
        </a:p>
      </dsp:txBody>
      <dsp:txXfrm>
        <a:off x="5332661" y="2126164"/>
        <a:ext cx="3034531" cy="1820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B9022-6EBC-4D6B-9A69-F3B6FFCB8725}">
      <dsp:nvSpPr>
        <dsp:cNvPr id="0" name=""/>
        <dsp:cNvSpPr/>
      </dsp:nvSpPr>
      <dsp:spPr>
        <a:xfrm>
          <a:off x="1903869" y="972509"/>
          <a:ext cx="406229" cy="91440"/>
        </a:xfrm>
        <a:custGeom>
          <a:avLst/>
          <a:gdLst/>
          <a:ahLst/>
          <a:cxnLst/>
          <a:rect l="0" t="0" r="0" b="0"/>
          <a:pathLst>
            <a:path>
              <a:moveTo>
                <a:pt x="0" y="45720"/>
              </a:moveTo>
              <a:lnTo>
                <a:pt x="406229"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96063" y="1016043"/>
        <a:ext cx="21841" cy="4372"/>
      </dsp:txXfrm>
    </dsp:sp>
    <dsp:sp modelId="{EBDA0467-E0A0-46AC-994B-461E80C95583}">
      <dsp:nvSpPr>
        <dsp:cNvPr id="0" name=""/>
        <dsp:cNvSpPr/>
      </dsp:nvSpPr>
      <dsp:spPr>
        <a:xfrm>
          <a:off x="6409" y="448451"/>
          <a:ext cx="1899259" cy="113955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dirty="0"/>
            <a:t>Load and clean Kaggle flight delay data.</a:t>
          </a:r>
          <a:endParaRPr lang="en-US" sz="1200" kern="1200" dirty="0"/>
        </a:p>
      </dsp:txBody>
      <dsp:txXfrm>
        <a:off x="6409" y="448451"/>
        <a:ext cx="1899259" cy="1139555"/>
      </dsp:txXfrm>
    </dsp:sp>
    <dsp:sp modelId="{5D2A00BE-06F4-4568-92AF-7631DBCD63B6}">
      <dsp:nvSpPr>
        <dsp:cNvPr id="0" name=""/>
        <dsp:cNvSpPr/>
      </dsp:nvSpPr>
      <dsp:spPr>
        <a:xfrm>
          <a:off x="4239958" y="972509"/>
          <a:ext cx="406229" cy="91440"/>
        </a:xfrm>
        <a:custGeom>
          <a:avLst/>
          <a:gdLst/>
          <a:ahLst/>
          <a:cxnLst/>
          <a:rect l="0" t="0" r="0" b="0"/>
          <a:pathLst>
            <a:path>
              <a:moveTo>
                <a:pt x="0" y="45720"/>
              </a:moveTo>
              <a:lnTo>
                <a:pt x="406229" y="45720"/>
              </a:lnTo>
            </a:path>
          </a:pathLst>
        </a:custGeom>
        <a:noFill/>
        <a:ln w="12700" cap="flat" cmpd="sng" algn="ctr">
          <a:solidFill>
            <a:schemeClr val="accent2">
              <a:hueOff val="1288723"/>
              <a:satOff val="-3699"/>
              <a:lumOff val="-592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32152" y="1016043"/>
        <a:ext cx="21841" cy="4372"/>
      </dsp:txXfrm>
    </dsp:sp>
    <dsp:sp modelId="{A757842E-D7B6-448F-9AA5-C6D029700341}">
      <dsp:nvSpPr>
        <dsp:cNvPr id="0" name=""/>
        <dsp:cNvSpPr/>
      </dsp:nvSpPr>
      <dsp:spPr>
        <a:xfrm>
          <a:off x="2342498" y="448451"/>
          <a:ext cx="1899259" cy="1139555"/>
        </a:xfrm>
        <a:prstGeom prst="rect">
          <a:avLst/>
        </a:prstGeom>
        <a:solidFill>
          <a:schemeClr val="accent2">
            <a:hueOff val="1073936"/>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a:t>Engineer pre-departure features (Month, DayOfWeek, CRSDepMinutes, Distance, Origin, Dest, Airline).</a:t>
          </a:r>
          <a:endParaRPr lang="en-US" sz="1200" kern="1200"/>
        </a:p>
      </dsp:txBody>
      <dsp:txXfrm>
        <a:off x="2342498" y="448451"/>
        <a:ext cx="1899259" cy="1139555"/>
      </dsp:txXfrm>
    </dsp:sp>
    <dsp:sp modelId="{B24F502A-4EBC-4C68-B296-EDC6660DC9A1}">
      <dsp:nvSpPr>
        <dsp:cNvPr id="0" name=""/>
        <dsp:cNvSpPr/>
      </dsp:nvSpPr>
      <dsp:spPr>
        <a:xfrm>
          <a:off x="1060327" y="1523030"/>
          <a:ext cx="4647374" cy="469406"/>
        </a:xfrm>
        <a:custGeom>
          <a:avLst/>
          <a:gdLst/>
          <a:ahLst/>
          <a:cxnLst/>
          <a:rect l="0" t="0" r="0" b="0"/>
          <a:pathLst>
            <a:path>
              <a:moveTo>
                <a:pt x="4647374" y="0"/>
              </a:moveTo>
              <a:lnTo>
                <a:pt x="4647374" y="251803"/>
              </a:lnTo>
              <a:lnTo>
                <a:pt x="0" y="251803"/>
              </a:lnTo>
              <a:lnTo>
                <a:pt x="0" y="469406"/>
              </a:lnTo>
            </a:path>
          </a:pathLst>
        </a:custGeom>
        <a:noFill/>
        <a:ln w="12700" cap="flat" cmpd="sng" algn="ctr">
          <a:solidFill>
            <a:schemeClr val="accent2">
              <a:hueOff val="2577445"/>
              <a:satOff val="-7397"/>
              <a:lumOff val="-1184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67159" y="1755547"/>
        <a:ext cx="233709" cy="4372"/>
      </dsp:txXfrm>
    </dsp:sp>
    <dsp:sp modelId="{CC5F8984-E862-4BC5-9D58-89CF807384AC}">
      <dsp:nvSpPr>
        <dsp:cNvPr id="0" name=""/>
        <dsp:cNvSpPr/>
      </dsp:nvSpPr>
      <dsp:spPr>
        <a:xfrm>
          <a:off x="4678588" y="511628"/>
          <a:ext cx="2058227" cy="1013201"/>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dirty="0"/>
            <a:t>Apply shared preprocessing (impute, scale numeric, one-hot encode categorical).</a:t>
          </a:r>
          <a:endParaRPr lang="en-US" sz="1200" kern="1200" dirty="0"/>
        </a:p>
      </dsp:txBody>
      <dsp:txXfrm>
        <a:off x="4678588" y="511628"/>
        <a:ext cx="2058227" cy="1013201"/>
      </dsp:txXfrm>
    </dsp:sp>
    <dsp:sp modelId="{4B77B2C2-2F3C-4916-8486-F8D96B8726AC}">
      <dsp:nvSpPr>
        <dsp:cNvPr id="0" name=""/>
        <dsp:cNvSpPr/>
      </dsp:nvSpPr>
      <dsp:spPr>
        <a:xfrm>
          <a:off x="2112445" y="2685413"/>
          <a:ext cx="406229" cy="91440"/>
        </a:xfrm>
        <a:custGeom>
          <a:avLst/>
          <a:gdLst/>
          <a:ahLst/>
          <a:cxnLst/>
          <a:rect l="0" t="0" r="0" b="0"/>
          <a:pathLst>
            <a:path>
              <a:moveTo>
                <a:pt x="0" y="45720"/>
              </a:moveTo>
              <a:lnTo>
                <a:pt x="406229" y="45720"/>
              </a:lnTo>
            </a:path>
          </a:pathLst>
        </a:custGeom>
        <a:noFill/>
        <a:ln w="12700" cap="flat" cmpd="sng" algn="ctr">
          <a:solidFill>
            <a:schemeClr val="accent2">
              <a:hueOff val="3866169"/>
              <a:satOff val="-11096"/>
              <a:lumOff val="-17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04639" y="2728947"/>
        <a:ext cx="21841" cy="4372"/>
      </dsp:txXfrm>
    </dsp:sp>
    <dsp:sp modelId="{21503069-A791-4C20-BC6E-6CCD9649DD06}">
      <dsp:nvSpPr>
        <dsp:cNvPr id="0" name=""/>
        <dsp:cNvSpPr/>
      </dsp:nvSpPr>
      <dsp:spPr>
        <a:xfrm>
          <a:off x="6409" y="2024837"/>
          <a:ext cx="2107836" cy="1412593"/>
        </a:xfrm>
        <a:prstGeom prst="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a:t>Split into 80% train / 20% test (stratified).</a:t>
          </a:r>
          <a:endParaRPr lang="en-US" sz="1200" kern="1200"/>
        </a:p>
      </dsp:txBody>
      <dsp:txXfrm>
        <a:off x="6409" y="2024837"/>
        <a:ext cx="2107836" cy="1412593"/>
      </dsp:txXfrm>
    </dsp:sp>
    <dsp:sp modelId="{FAE9496F-3E2F-4796-A318-CF5C5B4DEB09}">
      <dsp:nvSpPr>
        <dsp:cNvPr id="0" name=""/>
        <dsp:cNvSpPr/>
      </dsp:nvSpPr>
      <dsp:spPr>
        <a:xfrm>
          <a:off x="4448534" y="2685413"/>
          <a:ext cx="406229" cy="91440"/>
        </a:xfrm>
        <a:custGeom>
          <a:avLst/>
          <a:gdLst/>
          <a:ahLst/>
          <a:cxnLst/>
          <a:rect l="0" t="0" r="0" b="0"/>
          <a:pathLst>
            <a:path>
              <a:moveTo>
                <a:pt x="0" y="45720"/>
              </a:moveTo>
              <a:lnTo>
                <a:pt x="406229" y="45720"/>
              </a:lnTo>
            </a:path>
          </a:pathLst>
        </a:custGeom>
        <a:noFill/>
        <a:ln w="12700" cap="flat" cmpd="sng" algn="ctr">
          <a:solidFill>
            <a:schemeClr val="accent2">
              <a:hueOff val="5154891"/>
              <a:satOff val="-14794"/>
              <a:lumOff val="-2368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40729" y="2728947"/>
        <a:ext cx="21841" cy="4372"/>
      </dsp:txXfrm>
    </dsp:sp>
    <dsp:sp modelId="{594B74D5-938A-40CD-9E48-148FE2514301}">
      <dsp:nvSpPr>
        <dsp:cNvPr id="0" name=""/>
        <dsp:cNvSpPr/>
      </dsp:nvSpPr>
      <dsp:spPr>
        <a:xfrm>
          <a:off x="2551075" y="2161355"/>
          <a:ext cx="1899259" cy="1139555"/>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a:t>Train global models (Dummy, LR, DT, RF, SVM) </a:t>
          </a:r>
          <a:r>
            <a:rPr lang="en-US" sz="1200" b="1" i="0" kern="1200" baseline="0"/>
            <a:t>and a simple LSTM neural network on the same preprocessed features</a:t>
          </a:r>
          <a:r>
            <a:rPr lang="en-US" sz="1200" b="0" i="0" kern="1200" baseline="0"/>
            <a:t>.</a:t>
          </a:r>
          <a:endParaRPr lang="en-US" sz="1200" kern="1200"/>
        </a:p>
      </dsp:txBody>
      <dsp:txXfrm>
        <a:off x="2551075" y="2161355"/>
        <a:ext cx="1899259" cy="1139555"/>
      </dsp:txXfrm>
    </dsp:sp>
    <dsp:sp modelId="{5018E937-4537-47D9-93B1-20633E5FDC1B}">
      <dsp:nvSpPr>
        <dsp:cNvPr id="0" name=""/>
        <dsp:cNvSpPr/>
      </dsp:nvSpPr>
      <dsp:spPr>
        <a:xfrm>
          <a:off x="6784624" y="2685413"/>
          <a:ext cx="406229" cy="91440"/>
        </a:xfrm>
        <a:custGeom>
          <a:avLst/>
          <a:gdLst/>
          <a:ahLst/>
          <a:cxnLst/>
          <a:rect l="0" t="0" r="0" b="0"/>
          <a:pathLst>
            <a:path>
              <a:moveTo>
                <a:pt x="0" y="45720"/>
              </a:moveTo>
              <a:lnTo>
                <a:pt x="406229"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76818" y="2728947"/>
        <a:ext cx="21841" cy="4372"/>
      </dsp:txXfrm>
    </dsp:sp>
    <dsp:sp modelId="{450F83EA-C2A2-476F-B33B-55CDB3C220ED}">
      <dsp:nvSpPr>
        <dsp:cNvPr id="0" name=""/>
        <dsp:cNvSpPr/>
      </dsp:nvSpPr>
      <dsp:spPr>
        <a:xfrm>
          <a:off x="4887164" y="2161355"/>
          <a:ext cx="1899259" cy="1139555"/>
        </a:xfrm>
        <a:prstGeom prst="rect">
          <a:avLst/>
        </a:prstGeom>
        <a:solidFill>
          <a:schemeClr val="accent2">
            <a:hueOff val="5369678"/>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a:t>Build Cluster-Specific Ensemble (k-means on Month/DayOfWeek/time/distance + RF per cluster).</a:t>
          </a:r>
          <a:endParaRPr lang="en-US" sz="1200" kern="1200"/>
        </a:p>
      </dsp:txBody>
      <dsp:txXfrm>
        <a:off x="4887164" y="2161355"/>
        <a:ext cx="1899259" cy="1139555"/>
      </dsp:txXfrm>
    </dsp:sp>
    <dsp:sp modelId="{98AE46E9-6543-42DA-A695-5CEDBCAFAC71}">
      <dsp:nvSpPr>
        <dsp:cNvPr id="0" name=""/>
        <dsp:cNvSpPr/>
      </dsp:nvSpPr>
      <dsp:spPr>
        <a:xfrm>
          <a:off x="7223253" y="2161355"/>
          <a:ext cx="1899259" cy="1139555"/>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3065" tIns="97688" rIns="93065" bIns="97688" numCol="1" spcCol="1270" anchor="ctr" anchorCtr="0">
          <a:noAutofit/>
        </a:bodyPr>
        <a:lstStyle/>
        <a:p>
          <a:pPr marL="0" lvl="0" indent="0" algn="ctr" defTabSz="533400">
            <a:lnSpc>
              <a:spcPct val="90000"/>
            </a:lnSpc>
            <a:spcBef>
              <a:spcPct val="0"/>
            </a:spcBef>
            <a:spcAft>
              <a:spcPct val="35000"/>
            </a:spcAft>
            <a:buNone/>
          </a:pPr>
          <a:r>
            <a:rPr lang="en-US" sz="1200" b="0" i="0" kern="1200" baseline="0"/>
            <a:t>Evaluate RF, CSE, and LSTM on the test set and compare metrics.</a:t>
          </a:r>
          <a:endParaRPr lang="en-US" sz="1200" kern="1200"/>
        </a:p>
      </dsp:txBody>
      <dsp:txXfrm>
        <a:off x="7223253" y="2161355"/>
        <a:ext cx="1899259" cy="11395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5AFFA7-093D-487E-B6A0-81023B03DD25}">
      <dsp:nvSpPr>
        <dsp:cNvPr id="0" name=""/>
        <dsp:cNvSpPr/>
      </dsp:nvSpPr>
      <dsp:spPr>
        <a:xfrm>
          <a:off x="82613" y="90072"/>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8B436C-AB51-45F5-A3AE-631A638A2B4C}">
      <dsp:nvSpPr>
        <dsp:cNvPr id="0" name=""/>
        <dsp:cNvSpPr/>
      </dsp:nvSpPr>
      <dsp:spPr>
        <a:xfrm>
          <a:off x="271034" y="278494"/>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12AB96-8F7D-4AD2-BB65-46BBEAF9C8A2}">
      <dsp:nvSpPr>
        <dsp:cNvPr id="0" name=""/>
        <dsp:cNvSpPr/>
      </dsp:nvSpPr>
      <dsp:spPr>
        <a:xfrm>
          <a:off x="1172126"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Common Input Pipeline</a:t>
          </a:r>
          <a:br>
            <a:rPr lang="en-US" sz="1100" kern="1200"/>
          </a:br>
          <a:r>
            <a:rPr lang="en-US" sz="1100" kern="1200"/>
            <a:t>We first apply the same preprocessing pipeline to all models (impute missing values, scale numeric features, one-hot encode categorical features) so every model sees exactly the same transformed features.</a:t>
          </a:r>
        </a:p>
      </dsp:txBody>
      <dsp:txXfrm>
        <a:off x="1172126" y="90072"/>
        <a:ext cx="2114937" cy="897246"/>
      </dsp:txXfrm>
    </dsp:sp>
    <dsp:sp modelId="{7EB8402A-0F59-431D-B509-9B5C926C0E22}">
      <dsp:nvSpPr>
        <dsp:cNvPr id="0" name=""/>
        <dsp:cNvSpPr/>
      </dsp:nvSpPr>
      <dsp:spPr>
        <a:xfrm>
          <a:off x="3655575" y="90072"/>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5F6355-62C2-4C82-B7D9-5875BB93B8D4}">
      <dsp:nvSpPr>
        <dsp:cNvPr id="0" name=""/>
        <dsp:cNvSpPr/>
      </dsp:nvSpPr>
      <dsp:spPr>
        <a:xfrm>
          <a:off x="3843996" y="278494"/>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C2FEB9-A9C0-4A1A-8598-91D455FFDFDA}">
      <dsp:nvSpPr>
        <dsp:cNvPr id="0" name=""/>
        <dsp:cNvSpPr/>
      </dsp:nvSpPr>
      <dsp:spPr>
        <a:xfrm>
          <a:off x="474508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Majority-Class Dummy</a:t>
          </a:r>
          <a:br>
            <a:rPr lang="en-US" sz="1100" kern="1200"/>
          </a:br>
          <a:r>
            <a:rPr lang="en-US" sz="1100" kern="1200"/>
            <a:t>We train a dummy classifier that always predicts the most frequent class (on-time). This gives a simple baseline to compare against more complex models.</a:t>
          </a:r>
        </a:p>
      </dsp:txBody>
      <dsp:txXfrm>
        <a:off x="4745088" y="90072"/>
        <a:ext cx="2114937" cy="897246"/>
      </dsp:txXfrm>
    </dsp:sp>
    <dsp:sp modelId="{30A88BCD-6620-44B4-8782-AD46093871DB}">
      <dsp:nvSpPr>
        <dsp:cNvPr id="0" name=""/>
        <dsp:cNvSpPr/>
      </dsp:nvSpPr>
      <dsp:spPr>
        <a:xfrm>
          <a:off x="7228536" y="90072"/>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672679-565A-4AE0-BEF0-A5778B4486D7}">
      <dsp:nvSpPr>
        <dsp:cNvPr id="0" name=""/>
        <dsp:cNvSpPr/>
      </dsp:nvSpPr>
      <dsp:spPr>
        <a:xfrm>
          <a:off x="7416958" y="278494"/>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89C7F5-A144-491C-B8F5-989D356451C4}">
      <dsp:nvSpPr>
        <dsp:cNvPr id="0" name=""/>
        <dsp:cNvSpPr/>
      </dsp:nvSpPr>
      <dsp:spPr>
        <a:xfrm>
          <a:off x="8318049"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Logistic Regression</a:t>
          </a:r>
          <a:br>
            <a:rPr lang="en-US" sz="1100" kern="1200"/>
          </a:br>
          <a:r>
            <a:rPr lang="en-US" sz="1100" kern="1200"/>
            <a:t>We train a regularized logistic regression model on the preprocessed features to get a simple, interpretable linear baseline for the probability of delay.</a:t>
          </a:r>
        </a:p>
      </dsp:txBody>
      <dsp:txXfrm>
        <a:off x="8318049" y="90072"/>
        <a:ext cx="2114937" cy="897246"/>
      </dsp:txXfrm>
    </dsp:sp>
    <dsp:sp modelId="{9F1779A2-C466-4678-8558-327AA58C5ECD}">
      <dsp:nvSpPr>
        <dsp:cNvPr id="0" name=""/>
        <dsp:cNvSpPr/>
      </dsp:nvSpPr>
      <dsp:spPr>
        <a:xfrm>
          <a:off x="82613" y="1727045"/>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2E1A1F-C9C9-4F8B-97BA-DEA5C519A941}">
      <dsp:nvSpPr>
        <dsp:cNvPr id="0" name=""/>
        <dsp:cNvSpPr/>
      </dsp:nvSpPr>
      <dsp:spPr>
        <a:xfrm>
          <a:off x="271034" y="1915467"/>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7F9234-11AA-4DBC-BBF7-3D54287506F8}">
      <dsp:nvSpPr>
        <dsp:cNvPr id="0" name=""/>
        <dsp:cNvSpPr/>
      </dsp:nvSpPr>
      <dsp:spPr>
        <a:xfrm>
          <a:off x="1172126"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Decision Tree</a:t>
          </a:r>
          <a:br>
            <a:rPr lang="en-US" sz="1100" kern="1200"/>
          </a:br>
          <a:r>
            <a:rPr lang="en-US" sz="1100" kern="1200"/>
            <a:t>We train a decision tree classifier to capture basic nonlinear interactions between features such as airline, route, time of day, and distance.</a:t>
          </a:r>
        </a:p>
      </dsp:txBody>
      <dsp:txXfrm>
        <a:off x="1172126" y="1727045"/>
        <a:ext cx="2114937" cy="897246"/>
      </dsp:txXfrm>
    </dsp:sp>
    <dsp:sp modelId="{68E0EE38-21F6-4228-B5E3-2ED14BFC202B}">
      <dsp:nvSpPr>
        <dsp:cNvPr id="0" name=""/>
        <dsp:cNvSpPr/>
      </dsp:nvSpPr>
      <dsp:spPr>
        <a:xfrm>
          <a:off x="3655575" y="1727045"/>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29BC74-2704-48C4-9C06-6A6EBC18DC0E}">
      <dsp:nvSpPr>
        <dsp:cNvPr id="0" name=""/>
        <dsp:cNvSpPr/>
      </dsp:nvSpPr>
      <dsp:spPr>
        <a:xfrm>
          <a:off x="3843996" y="1915467"/>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3C03C6-41BF-4F67-BDAD-7BB9C6DC1B62}">
      <dsp:nvSpPr>
        <dsp:cNvPr id="0" name=""/>
        <dsp:cNvSpPr/>
      </dsp:nvSpPr>
      <dsp:spPr>
        <a:xfrm>
          <a:off x="474508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Random Forest</a:t>
          </a:r>
          <a:br>
            <a:rPr lang="en-US" sz="1100" kern="1200"/>
          </a:br>
          <a:r>
            <a:rPr lang="en-US" sz="1100" kern="1200"/>
            <a:t>We train a random forest with many trees as a stronger nonlinear global model. This becomes our best-performing global baseline in terms of F1 and ROC–AUC.</a:t>
          </a:r>
        </a:p>
      </dsp:txBody>
      <dsp:txXfrm>
        <a:off x="4745088" y="1727045"/>
        <a:ext cx="2114937" cy="897246"/>
      </dsp:txXfrm>
    </dsp:sp>
    <dsp:sp modelId="{53421D26-5A3F-4C4B-ADB5-64C8F38093C6}">
      <dsp:nvSpPr>
        <dsp:cNvPr id="0" name=""/>
        <dsp:cNvSpPr/>
      </dsp:nvSpPr>
      <dsp:spPr>
        <a:xfrm>
          <a:off x="7228536" y="1727045"/>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68DED-96BF-4726-8AE0-D6A0FCC398D0}">
      <dsp:nvSpPr>
        <dsp:cNvPr id="0" name=""/>
        <dsp:cNvSpPr/>
      </dsp:nvSpPr>
      <dsp:spPr>
        <a:xfrm>
          <a:off x="7416958" y="1915467"/>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AD6598-518A-4213-9AC6-7C02A54E9A5E}">
      <dsp:nvSpPr>
        <dsp:cNvPr id="0" name=""/>
        <dsp:cNvSpPr/>
      </dsp:nvSpPr>
      <dsp:spPr>
        <a:xfrm>
          <a:off x="8318049"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SVM (LinearSVC)</a:t>
          </a:r>
          <a:br>
            <a:rPr lang="en-US" sz="1100" kern="1200"/>
          </a:br>
          <a:r>
            <a:rPr lang="en-US" sz="1100" kern="1200"/>
            <a:t>We train a linear SVM (with class_weight = "balanced") as another strong linear baseline that handles the class imbalance explicitly.</a:t>
          </a:r>
        </a:p>
      </dsp:txBody>
      <dsp:txXfrm>
        <a:off x="8318049" y="1727045"/>
        <a:ext cx="2114937" cy="897246"/>
      </dsp:txXfrm>
    </dsp:sp>
    <dsp:sp modelId="{A4A73F06-E573-4991-985D-635645D7446F}">
      <dsp:nvSpPr>
        <dsp:cNvPr id="0" name=""/>
        <dsp:cNvSpPr/>
      </dsp:nvSpPr>
      <dsp:spPr>
        <a:xfrm>
          <a:off x="929197" y="3331359"/>
          <a:ext cx="897246" cy="89724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BB12EE-6EBA-48FA-84E3-B8260156B6A3}">
      <dsp:nvSpPr>
        <dsp:cNvPr id="0" name=""/>
        <dsp:cNvSpPr/>
      </dsp:nvSpPr>
      <dsp:spPr>
        <a:xfrm>
          <a:off x="1063191" y="3552441"/>
          <a:ext cx="520402" cy="5204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F34F4F-73B4-4448-9998-21CE27F7966D}">
      <dsp:nvSpPr>
        <dsp:cNvPr id="0" name=""/>
        <dsp:cNvSpPr/>
      </dsp:nvSpPr>
      <dsp:spPr>
        <a:xfrm>
          <a:off x="2109336" y="3315962"/>
          <a:ext cx="587827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LSTM (Deep-Learning Baseline)</a:t>
          </a:r>
          <a:br>
            <a:rPr lang="en-US" sz="1100" kern="1200" dirty="0"/>
          </a:br>
          <a:r>
            <a:rPr lang="en-US" sz="1100" kern="1200" dirty="0"/>
            <a:t>We use the same preprocessed features, convert them to dense arrays, reshape them as a 1-step sequence per flight, and train a small LSTM network. This gives a deep-learning baseline to compare against our tree-based models, but in practice it achieves similar ROC–AUC and much lower recall/F1 than the Random Forest and CSE.</a:t>
          </a:r>
        </a:p>
      </dsp:txBody>
      <dsp:txXfrm>
        <a:off x="2109336" y="3315962"/>
        <a:ext cx="587827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7934B-55C7-48A5-9CF3-530F8F47A629}">
      <dsp:nvSpPr>
        <dsp:cNvPr id="0" name=""/>
        <dsp:cNvSpPr/>
      </dsp:nvSpPr>
      <dsp:spPr>
        <a:xfrm>
          <a:off x="0" y="8787"/>
          <a:ext cx="5767840" cy="472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E131B0-BC5E-402A-9C83-67E1E260C522}">
      <dsp:nvSpPr>
        <dsp:cNvPr id="0" name=""/>
        <dsp:cNvSpPr/>
      </dsp:nvSpPr>
      <dsp:spPr>
        <a:xfrm>
          <a:off x="142856" y="115044"/>
          <a:ext cx="259992" cy="2597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4EF939-788E-4266-978B-0280B8512B26}">
      <dsp:nvSpPr>
        <dsp:cNvPr id="0" name=""/>
        <dsp:cNvSpPr/>
      </dsp:nvSpPr>
      <dsp:spPr>
        <a:xfrm>
          <a:off x="779497" y="0"/>
          <a:ext cx="4988342" cy="89553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94777" tIns="94777" rIns="94777" bIns="94777"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solidFill>
                <a:schemeClr val="bg1"/>
              </a:solidFill>
            </a:rPr>
            <a:t>Among all the global baseline models we tested, the </a:t>
          </a:r>
          <a:r>
            <a:rPr lang="en-US" sz="1400" b="1" i="0" kern="1200" baseline="0" dirty="0">
              <a:solidFill>
                <a:schemeClr val="bg1"/>
              </a:solidFill>
            </a:rPr>
            <a:t>Random Forest</a:t>
          </a:r>
          <a:r>
            <a:rPr lang="en-US" sz="1400" b="0" i="0" kern="1200" baseline="0" dirty="0">
              <a:solidFill>
                <a:schemeClr val="bg1"/>
              </a:solidFill>
            </a:rPr>
            <a:t> achieved the best overall performance on the test set.</a:t>
          </a:r>
          <a:endParaRPr lang="en-US" sz="1400" kern="1200" dirty="0">
            <a:solidFill>
              <a:schemeClr val="bg1"/>
            </a:solidFill>
          </a:endParaRPr>
        </a:p>
      </dsp:txBody>
      <dsp:txXfrm>
        <a:off x="779497" y="0"/>
        <a:ext cx="4988342" cy="895530"/>
      </dsp:txXfrm>
    </dsp:sp>
    <dsp:sp modelId="{57C37123-43FC-4040-A1D2-B8D49EA14837}">
      <dsp:nvSpPr>
        <dsp:cNvPr id="0" name=""/>
        <dsp:cNvSpPr/>
      </dsp:nvSpPr>
      <dsp:spPr>
        <a:xfrm>
          <a:off x="0" y="1115031"/>
          <a:ext cx="5767840" cy="472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CC2032-B72D-48E2-BF6A-8BA788054061}">
      <dsp:nvSpPr>
        <dsp:cNvPr id="0" name=""/>
        <dsp:cNvSpPr/>
      </dsp:nvSpPr>
      <dsp:spPr>
        <a:xfrm>
          <a:off x="142856" y="1221288"/>
          <a:ext cx="259992" cy="2597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2DDC7F-F495-4CDC-9E5E-FFBBCF4838B4}">
      <dsp:nvSpPr>
        <dsp:cNvPr id="0" name=""/>
        <dsp:cNvSpPr/>
      </dsp:nvSpPr>
      <dsp:spPr>
        <a:xfrm>
          <a:off x="779497" y="984409"/>
          <a:ext cx="4988342" cy="89553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94777" tIns="94777" rIns="94777" bIns="94777"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solidFill>
                <a:schemeClr val="bg1"/>
              </a:solidFill>
            </a:rPr>
            <a:t>It provided the strongest combination of </a:t>
          </a:r>
          <a:r>
            <a:rPr lang="en-US" sz="1400" b="1" i="0" kern="1200" baseline="0" dirty="0">
              <a:solidFill>
                <a:schemeClr val="bg1"/>
              </a:solidFill>
            </a:rPr>
            <a:t>accuracy, F1 score, and ROC–AUC</a:t>
          </a:r>
          <a:r>
            <a:rPr lang="en-US" sz="1400" b="0" i="0" kern="1200" baseline="0" dirty="0">
              <a:solidFill>
                <a:schemeClr val="bg1"/>
              </a:solidFill>
            </a:rPr>
            <a:t>, meaning it both classified flights well and separated delayed vs on-time flights effectively.</a:t>
          </a:r>
          <a:endParaRPr lang="en-US" sz="1400" kern="1200" dirty="0">
            <a:solidFill>
              <a:schemeClr val="bg1"/>
            </a:solidFill>
          </a:endParaRPr>
        </a:p>
      </dsp:txBody>
      <dsp:txXfrm>
        <a:off x="779497" y="984409"/>
        <a:ext cx="4988342" cy="895530"/>
      </dsp:txXfrm>
    </dsp:sp>
    <dsp:sp modelId="{6F4C816A-1AC2-423E-89DA-1C8F6EF4A955}">
      <dsp:nvSpPr>
        <dsp:cNvPr id="0" name=""/>
        <dsp:cNvSpPr/>
      </dsp:nvSpPr>
      <dsp:spPr>
        <a:xfrm>
          <a:off x="0" y="2221275"/>
          <a:ext cx="5767840" cy="472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7CB6AB-761C-43E7-A086-44A7AA8F519B}">
      <dsp:nvSpPr>
        <dsp:cNvPr id="0" name=""/>
        <dsp:cNvSpPr/>
      </dsp:nvSpPr>
      <dsp:spPr>
        <a:xfrm>
          <a:off x="142856" y="2327532"/>
          <a:ext cx="259992" cy="2597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4AD213-606C-4B7D-BF23-2C0B6DB35638}">
      <dsp:nvSpPr>
        <dsp:cNvPr id="0" name=""/>
        <dsp:cNvSpPr/>
      </dsp:nvSpPr>
      <dsp:spPr>
        <a:xfrm>
          <a:off x="702228" y="2145074"/>
          <a:ext cx="5065611" cy="89553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94777" tIns="94777" rIns="94777" bIns="94777"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solidFill>
                <a:schemeClr val="bg1"/>
              </a:solidFill>
            </a:rPr>
            <a:t>Compared to simpler models like Logistic Regression and Decision Tree, the Random Forest captured more of the </a:t>
          </a:r>
          <a:r>
            <a:rPr lang="en-US" sz="1400" b="1" i="0" kern="1200" baseline="0" dirty="0">
              <a:solidFill>
                <a:schemeClr val="bg1"/>
              </a:solidFill>
            </a:rPr>
            <a:t>nonlinear relationships</a:t>
          </a:r>
          <a:r>
            <a:rPr lang="en-US" sz="1400" b="0" i="0" kern="1200" baseline="0" dirty="0">
              <a:solidFill>
                <a:schemeClr val="bg1"/>
              </a:solidFill>
            </a:rPr>
            <a:t> between time, route, and delay. Even adding LSTM also Random Forest remains same</a:t>
          </a:r>
          <a:endParaRPr lang="en-US" sz="1400" kern="1200" dirty="0">
            <a:solidFill>
              <a:schemeClr val="bg1"/>
            </a:solidFill>
          </a:endParaRPr>
        </a:p>
      </dsp:txBody>
      <dsp:txXfrm>
        <a:off x="702228" y="2145074"/>
        <a:ext cx="5065611" cy="895530"/>
      </dsp:txXfrm>
    </dsp:sp>
    <dsp:sp modelId="{2397C3CE-A6DC-4FC2-8EF2-63798EA0F164}">
      <dsp:nvSpPr>
        <dsp:cNvPr id="0" name=""/>
        <dsp:cNvSpPr/>
      </dsp:nvSpPr>
      <dsp:spPr>
        <a:xfrm>
          <a:off x="0" y="3327519"/>
          <a:ext cx="5767840" cy="472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59323D-2227-4A68-A359-9BAA1FEA7127}">
      <dsp:nvSpPr>
        <dsp:cNvPr id="0" name=""/>
        <dsp:cNvSpPr/>
      </dsp:nvSpPr>
      <dsp:spPr>
        <a:xfrm>
          <a:off x="142856" y="3433776"/>
          <a:ext cx="259992" cy="2597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86C5D0-06CE-45D6-9D6D-B7616E858787}">
      <dsp:nvSpPr>
        <dsp:cNvPr id="0" name=""/>
        <dsp:cNvSpPr/>
      </dsp:nvSpPr>
      <dsp:spPr>
        <a:xfrm>
          <a:off x="779497" y="3251318"/>
          <a:ext cx="4988342" cy="89553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94777" tIns="94777" rIns="94777" bIns="94777"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solidFill>
                <a:schemeClr val="bg1"/>
              </a:solidFill>
            </a:rPr>
            <a:t>The Random Forest also handled the </a:t>
          </a:r>
          <a:r>
            <a:rPr lang="en-US" sz="1400" b="1" i="0" kern="1200" baseline="0" dirty="0">
              <a:solidFill>
                <a:schemeClr val="bg1"/>
              </a:solidFill>
            </a:rPr>
            <a:t>class imbalance</a:t>
          </a:r>
          <a:r>
            <a:rPr lang="en-US" sz="1400" b="0" i="0" kern="1200" baseline="0" dirty="0">
              <a:solidFill>
                <a:schemeClr val="bg1"/>
              </a:solidFill>
            </a:rPr>
            <a:t> reasonably well when we used class-weight balancing, improving detection of delayed flights.</a:t>
          </a:r>
          <a:endParaRPr lang="en-US" sz="1400" kern="1200" dirty="0">
            <a:solidFill>
              <a:schemeClr val="bg1"/>
            </a:solidFill>
          </a:endParaRPr>
        </a:p>
      </dsp:txBody>
      <dsp:txXfrm>
        <a:off x="779497" y="3251318"/>
        <a:ext cx="4988342" cy="895530"/>
      </dsp:txXfrm>
    </dsp:sp>
    <dsp:sp modelId="{6CE894CF-9F59-4200-BE89-1054B9F6A660}">
      <dsp:nvSpPr>
        <dsp:cNvPr id="0" name=""/>
        <dsp:cNvSpPr/>
      </dsp:nvSpPr>
      <dsp:spPr>
        <a:xfrm>
          <a:off x="0" y="4433763"/>
          <a:ext cx="5767840" cy="47225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3C7E00-0717-48BF-B43A-C8B7CC0A14F1}">
      <dsp:nvSpPr>
        <dsp:cNvPr id="0" name=""/>
        <dsp:cNvSpPr/>
      </dsp:nvSpPr>
      <dsp:spPr>
        <a:xfrm>
          <a:off x="142856" y="4540020"/>
          <a:ext cx="259992" cy="25973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2BEB5F-B2CA-4DF9-85FA-A18D674735BB}">
      <dsp:nvSpPr>
        <dsp:cNvPr id="0" name=""/>
        <dsp:cNvSpPr/>
      </dsp:nvSpPr>
      <dsp:spPr>
        <a:xfrm>
          <a:off x="779497" y="4442548"/>
          <a:ext cx="4988342" cy="895530"/>
        </a:xfrm>
        <a:prstGeom prst="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94777" tIns="94777" rIns="94777" bIns="94777"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solidFill>
                <a:schemeClr val="bg1"/>
              </a:solidFill>
            </a:rPr>
            <a:t>Because of this performance, we treat the </a:t>
          </a:r>
          <a:r>
            <a:rPr lang="en-US" sz="1400" b="1" i="0" kern="1200" baseline="0" dirty="0">
              <a:solidFill>
                <a:schemeClr val="bg1"/>
              </a:solidFill>
            </a:rPr>
            <a:t>global Random Forest as our main baseline</a:t>
          </a:r>
          <a:r>
            <a:rPr lang="en-US" sz="1400" b="0" i="0" kern="1200" baseline="0" dirty="0">
              <a:solidFill>
                <a:schemeClr val="bg1"/>
              </a:solidFill>
            </a:rPr>
            <a:t> to compare against the Cluster-Specific Ensemble.</a:t>
          </a:r>
          <a:endParaRPr lang="en-US" sz="1400" kern="1200" dirty="0">
            <a:solidFill>
              <a:schemeClr val="bg1"/>
            </a:solidFill>
          </a:endParaRPr>
        </a:p>
      </dsp:txBody>
      <dsp:txXfrm>
        <a:off x="779497" y="4442548"/>
        <a:ext cx="4988342" cy="8955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716359-709F-4255-950B-DAF04834B17C}"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D329E3-EEED-4BF4-90B5-72B2E25D3158}" type="slidenum">
              <a:rPr lang="en-US" smtClean="0"/>
              <a:t>‹#›</a:t>
            </a:fld>
            <a:endParaRPr lang="en-US"/>
          </a:p>
        </p:txBody>
      </p:sp>
    </p:spTree>
    <p:extLst>
      <p:ext uri="{BB962C8B-B14F-4D97-AF65-F5344CB8AC3E}">
        <p14:creationId xmlns:p14="http://schemas.microsoft.com/office/powerpoint/2010/main" val="1421810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a:t>
            </a:r>
            <a:r>
              <a:rPr lang="en-US" b="1" dirty="0"/>
              <a:t>Prathyusha </a:t>
            </a:r>
            <a:r>
              <a:rPr lang="en-US" b="1" dirty="0" err="1"/>
              <a:t>Pentam</a:t>
            </a:r>
            <a:r>
              <a:rPr lang="en-US" dirty="0"/>
              <a:t> and this is </a:t>
            </a:r>
            <a:r>
              <a:rPr lang="en-US" b="1" dirty="0"/>
              <a:t>Sri Surya Pravallika </a:t>
            </a:r>
            <a:r>
              <a:rPr lang="en-US" b="1" dirty="0" err="1"/>
              <a:t>Ajjarapu</a:t>
            </a:r>
            <a:r>
              <a:rPr lang="en-US" dirty="0"/>
              <a:t>.</a:t>
            </a:r>
            <a:br>
              <a:rPr lang="en-US" dirty="0"/>
            </a:br>
            <a:r>
              <a:rPr lang="en-US" dirty="0"/>
              <a:t>Our project is </a:t>
            </a:r>
            <a:r>
              <a:rPr lang="en-US" i="1" dirty="0"/>
              <a:t>Flight Delay Prediction Using Cluster-Specific Ensemble Models</a:t>
            </a:r>
            <a:r>
              <a:rPr lang="en-US" dirty="0"/>
              <a:t> for the DASC-5380 Data Analytics course.</a:t>
            </a:r>
            <a:br>
              <a:rPr lang="en-US" dirty="0"/>
            </a:br>
            <a:r>
              <a:rPr lang="en-US" dirty="0"/>
              <a:t>We’ll show how we use machine learning to predict flight delays using only pre-departure information.”</a:t>
            </a:r>
          </a:p>
        </p:txBody>
      </p:sp>
      <p:sp>
        <p:nvSpPr>
          <p:cNvPr id="4" name="Slide Number Placeholder 3"/>
          <p:cNvSpPr>
            <a:spLocks noGrp="1"/>
          </p:cNvSpPr>
          <p:nvPr>
            <p:ph type="sldNum" sz="quarter" idx="5"/>
          </p:nvPr>
        </p:nvSpPr>
        <p:spPr/>
        <p:txBody>
          <a:bodyPr/>
          <a:lstStyle/>
          <a:p>
            <a:fld id="{8DD329E3-EEED-4BF4-90B5-72B2E25D3158}" type="slidenum">
              <a:rPr lang="en-US" smtClean="0"/>
              <a:t>1</a:t>
            </a:fld>
            <a:endParaRPr lang="en-US"/>
          </a:p>
        </p:txBody>
      </p:sp>
    </p:spTree>
    <p:extLst>
      <p:ext uri="{BB962C8B-B14F-4D97-AF65-F5344CB8AC3E}">
        <p14:creationId xmlns:p14="http://schemas.microsoft.com/office/powerpoint/2010/main" val="4260371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Flight delays are a common problem that cause frustration and extra costs for passengers, airlines, and airports.</a:t>
            </a:r>
            <a:br>
              <a:rPr lang="en-US" dirty="0"/>
            </a:br>
            <a:r>
              <a:rPr lang="en-US" dirty="0"/>
              <a:t>They lead to missed connections, longer turnaround times, and inefficient use of gates and crews.</a:t>
            </a:r>
            <a:br>
              <a:rPr lang="en-US" dirty="0"/>
            </a:br>
            <a:r>
              <a:rPr lang="en-US" dirty="0"/>
              <a:t>Our idea is to predict delays </a:t>
            </a:r>
            <a:r>
              <a:rPr lang="en-US" i="1" dirty="0"/>
              <a:t>before departure</a:t>
            </a:r>
            <a:r>
              <a:rPr lang="en-US" dirty="0"/>
              <a:t> so that airlines can plan better, rebook passengers earlier, and manage resources more efficiently.</a:t>
            </a:r>
            <a:br>
              <a:rPr lang="en-US" dirty="0"/>
            </a:br>
            <a:r>
              <a:rPr lang="en-US" dirty="0"/>
              <a:t>In this project, we use machine learning to predict whether a flight will be delayed by more than 15 minutes at arrival, using only pre-departure information like airline, route, departure time and distance.</a:t>
            </a:r>
            <a:br>
              <a:rPr lang="en-US" dirty="0"/>
            </a:br>
            <a:r>
              <a:rPr lang="en-US" dirty="0"/>
              <a:t>We compare standard global models with a Cluster-Specific Ensemble that first clusters similar flights and then trains a separate model in each cluster.</a:t>
            </a:r>
          </a:p>
        </p:txBody>
      </p:sp>
      <p:sp>
        <p:nvSpPr>
          <p:cNvPr id="4" name="Slide Number Placeholder 3"/>
          <p:cNvSpPr>
            <a:spLocks noGrp="1"/>
          </p:cNvSpPr>
          <p:nvPr>
            <p:ph type="sldNum" sz="quarter" idx="5"/>
          </p:nvPr>
        </p:nvSpPr>
        <p:spPr/>
        <p:txBody>
          <a:bodyPr/>
          <a:lstStyle/>
          <a:p>
            <a:fld id="{8DD329E3-EEED-4BF4-90B5-72B2E25D3158}" type="slidenum">
              <a:rPr lang="en-US" smtClean="0"/>
              <a:t>2</a:t>
            </a:fld>
            <a:endParaRPr lang="en-US"/>
          </a:p>
        </p:txBody>
      </p:sp>
    </p:spTree>
    <p:extLst>
      <p:ext uri="{BB962C8B-B14F-4D97-AF65-F5344CB8AC3E}">
        <p14:creationId xmlns:p14="http://schemas.microsoft.com/office/powerpoint/2010/main" val="351692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our goal is to predict whether a flight will be delayed more than 15 minutes at arrival.</a:t>
            </a:r>
            <a:br>
              <a:rPr lang="en-US" dirty="0"/>
            </a:br>
            <a:r>
              <a:rPr lang="en-US" dirty="0"/>
              <a:t>This is a </a:t>
            </a:r>
            <a:r>
              <a:rPr lang="en-US" b="1" dirty="0"/>
              <a:t>binary classification</a:t>
            </a:r>
            <a:r>
              <a:rPr lang="en-US" dirty="0"/>
              <a:t> problem where 0 means on time and 1 means delayed more than 15 minutes.</a:t>
            </a:r>
            <a:br>
              <a:rPr lang="en-US" dirty="0"/>
            </a:br>
            <a:r>
              <a:rPr lang="en-US" dirty="0"/>
              <a:t>We only use pre-departure features such as airline, origin, destination, month, day of week, departure time in minutes, and distance.</a:t>
            </a:r>
            <a:br>
              <a:rPr lang="en-US" dirty="0"/>
            </a:br>
            <a:r>
              <a:rPr lang="en-US" dirty="0"/>
              <a:t>The data are imbalanced because most flights are on time, and delay patterns vary a lot by route, airline, season, and time of day, which makes the prediction challenging.”</a:t>
            </a:r>
          </a:p>
        </p:txBody>
      </p:sp>
      <p:sp>
        <p:nvSpPr>
          <p:cNvPr id="4" name="Slide Number Placeholder 3"/>
          <p:cNvSpPr>
            <a:spLocks noGrp="1"/>
          </p:cNvSpPr>
          <p:nvPr>
            <p:ph type="sldNum" sz="quarter" idx="5"/>
          </p:nvPr>
        </p:nvSpPr>
        <p:spPr/>
        <p:txBody>
          <a:bodyPr/>
          <a:lstStyle/>
          <a:p>
            <a:fld id="{8DD329E3-EEED-4BF4-90B5-72B2E25D3158}" type="slidenum">
              <a:rPr lang="en-US" smtClean="0"/>
              <a:t>3</a:t>
            </a:fld>
            <a:endParaRPr lang="en-US"/>
          </a:p>
        </p:txBody>
      </p:sp>
    </p:spTree>
    <p:extLst>
      <p:ext uri="{BB962C8B-B14F-4D97-AF65-F5344CB8AC3E}">
        <p14:creationId xmlns:p14="http://schemas.microsoft.com/office/powerpoint/2010/main" val="2408267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Kaggle </a:t>
            </a:r>
            <a:r>
              <a:rPr lang="en-US" i="1" dirty="0"/>
              <a:t>Flight Delay Prediction</a:t>
            </a:r>
            <a:r>
              <a:rPr lang="en-US" dirty="0"/>
              <a:t> dataset, which contains several years of U.S. flight records from 2018 to 2022.</a:t>
            </a:r>
            <a:br>
              <a:rPr lang="en-US" dirty="0"/>
            </a:br>
            <a:r>
              <a:rPr lang="en-US" dirty="0"/>
              <a:t>Each row here represents a single flight and includes information about the airline, the route, the schedule and the recorded delay.</a:t>
            </a:r>
            <a:br>
              <a:rPr lang="en-US" dirty="0"/>
            </a:br>
            <a:r>
              <a:rPr lang="en-US" dirty="0"/>
              <a:t>Our target variable is </a:t>
            </a:r>
            <a:r>
              <a:rPr lang="en-US" b="1" dirty="0"/>
              <a:t>ArrDel15</a:t>
            </a:r>
            <a:r>
              <a:rPr lang="en-US" dirty="0"/>
              <a:t>, which is 0 for on-time arrivals and 1 for arrivals delayed more than 15 minutes.</a:t>
            </a:r>
            <a:br>
              <a:rPr lang="en-US" dirty="0"/>
            </a:br>
            <a:r>
              <a:rPr lang="en-US" dirty="0"/>
              <a:t>We restrict ourselves to pre-departure features so the model could realistically be used before the flight leaves the gate.</a:t>
            </a:r>
            <a:br>
              <a:rPr lang="en-US" dirty="0"/>
            </a:br>
            <a:r>
              <a:rPr lang="en-US" dirty="0"/>
              <a:t>Because the dataset is fairly large, we optionally sample a subset of flights for faster training while keeping a similar delay rate.”</a:t>
            </a:r>
          </a:p>
        </p:txBody>
      </p:sp>
      <p:sp>
        <p:nvSpPr>
          <p:cNvPr id="4" name="Slide Number Placeholder 3"/>
          <p:cNvSpPr>
            <a:spLocks noGrp="1"/>
          </p:cNvSpPr>
          <p:nvPr>
            <p:ph type="sldNum" sz="quarter" idx="5"/>
          </p:nvPr>
        </p:nvSpPr>
        <p:spPr/>
        <p:txBody>
          <a:bodyPr/>
          <a:lstStyle/>
          <a:p>
            <a:fld id="{8DD329E3-EEED-4BF4-90B5-72B2E25D3158}" type="slidenum">
              <a:rPr lang="en-US" smtClean="0"/>
              <a:t>4</a:t>
            </a:fld>
            <a:endParaRPr lang="en-US"/>
          </a:p>
        </p:txBody>
      </p:sp>
    </p:spTree>
    <p:extLst>
      <p:ext uri="{BB962C8B-B14F-4D97-AF65-F5344CB8AC3E}">
        <p14:creationId xmlns:p14="http://schemas.microsoft.com/office/powerpoint/2010/main" val="470115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computed the overall delay rate and found that about </a:t>
            </a:r>
            <a:r>
              <a:rPr lang="en-US" b="1" dirty="0"/>
              <a:t>19.5%</a:t>
            </a:r>
            <a:r>
              <a:rPr lang="en-US" dirty="0"/>
              <a:t> of flights in our sample are delayed more than 15 minutes, so delays are relatively rare.</a:t>
            </a:r>
            <a:br>
              <a:rPr lang="en-US" dirty="0"/>
            </a:br>
            <a:r>
              <a:rPr lang="en-US" dirty="0"/>
              <a:t>On the plot on the left, we show delay rate by airline. We can see that some carriers have noticeably higher delay rates than others.</a:t>
            </a:r>
            <a:br>
              <a:rPr lang="en-US" dirty="0"/>
            </a:br>
            <a:r>
              <a:rPr lang="en-US" dirty="0"/>
              <a:t>On the right, we look at delay rate by month, which suggests some seasonal variation, with certain months experiencing more delays.</a:t>
            </a:r>
            <a:br>
              <a:rPr lang="en-US" dirty="0"/>
            </a:br>
            <a:r>
              <a:rPr lang="en-US" dirty="0"/>
              <a:t>These patterns confirm that the data are imbalanced and heterogeneous, which motivates trying cluster-specific models instead of only one global model.”</a:t>
            </a:r>
          </a:p>
        </p:txBody>
      </p:sp>
      <p:sp>
        <p:nvSpPr>
          <p:cNvPr id="4" name="Slide Number Placeholder 3"/>
          <p:cNvSpPr>
            <a:spLocks noGrp="1"/>
          </p:cNvSpPr>
          <p:nvPr>
            <p:ph type="sldNum" sz="quarter" idx="5"/>
          </p:nvPr>
        </p:nvSpPr>
        <p:spPr/>
        <p:txBody>
          <a:bodyPr/>
          <a:lstStyle/>
          <a:p>
            <a:fld id="{8DD329E3-EEED-4BF4-90B5-72B2E25D3158}" type="slidenum">
              <a:rPr lang="en-US" smtClean="0"/>
              <a:t>6</a:t>
            </a:fld>
            <a:endParaRPr lang="en-US"/>
          </a:p>
        </p:txBody>
      </p:sp>
    </p:spTree>
    <p:extLst>
      <p:ext uri="{BB962C8B-B14F-4D97-AF65-F5344CB8AC3E}">
        <p14:creationId xmlns:p14="http://schemas.microsoft.com/office/powerpoint/2010/main" val="3523464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sure all models use the same transformed data, we built a </a:t>
            </a:r>
            <a:r>
              <a:rPr lang="en-US" b="1" dirty="0"/>
              <a:t>single preprocessing pipeline</a:t>
            </a:r>
            <a:r>
              <a:rPr lang="en-US" dirty="0"/>
              <a:t>.</a:t>
            </a:r>
            <a:br>
              <a:rPr lang="en-US" dirty="0"/>
            </a:br>
            <a:r>
              <a:rPr lang="en-US" dirty="0"/>
              <a:t>For numeric features like Month, </a:t>
            </a:r>
            <a:r>
              <a:rPr lang="en-US" dirty="0" err="1"/>
              <a:t>DayOfWeek</a:t>
            </a:r>
            <a:r>
              <a:rPr lang="en-US" dirty="0"/>
              <a:t>, departure time in minutes and distance, we fill missing values with the median and standardize them.</a:t>
            </a:r>
            <a:br>
              <a:rPr lang="en-US" dirty="0"/>
            </a:br>
            <a:r>
              <a:rPr lang="en-US" dirty="0"/>
              <a:t>For categorical features like origin, destination and marketing airline, we impute the most frequent category and apply one-hot encoding.</a:t>
            </a:r>
            <a:br>
              <a:rPr lang="en-US" dirty="0"/>
            </a:br>
            <a:r>
              <a:rPr lang="en-US" dirty="0"/>
              <a:t>After preprocessing, we split the data into </a:t>
            </a:r>
            <a:r>
              <a:rPr lang="en-US" b="1" dirty="0"/>
              <a:t>80% training</a:t>
            </a:r>
            <a:r>
              <a:rPr lang="en-US" dirty="0"/>
              <a:t> and </a:t>
            </a:r>
            <a:r>
              <a:rPr lang="en-US" b="1" dirty="0"/>
              <a:t>20% testing</a:t>
            </a:r>
            <a:r>
              <a:rPr lang="en-US" dirty="0"/>
              <a:t> using a stratified split so the delay rate is similar in both sets, as shown at the bottom of the slide.</a:t>
            </a:r>
            <a:br>
              <a:rPr lang="en-US" dirty="0"/>
            </a:br>
            <a:r>
              <a:rPr lang="en-US" dirty="0"/>
              <a:t>Because delays are less frequent, we also use </a:t>
            </a:r>
            <a:r>
              <a:rPr lang="en-US" sz="1200" kern="1200" dirty="0" err="1">
                <a:solidFill>
                  <a:schemeClr val="tx1"/>
                </a:solidFill>
                <a:latin typeface="+mn-lt"/>
                <a:ea typeface="+mn-ea"/>
                <a:cs typeface="+mn-cs"/>
              </a:rPr>
              <a:t>class_weight</a:t>
            </a:r>
            <a:r>
              <a:rPr lang="en-US" sz="1200" kern="1200" dirty="0">
                <a:solidFill>
                  <a:schemeClr val="tx1"/>
                </a:solidFill>
                <a:latin typeface="+mn-lt"/>
                <a:ea typeface="+mn-ea"/>
                <a:cs typeface="+mn-cs"/>
              </a:rPr>
              <a:t> = "balanced"</a:t>
            </a:r>
            <a:r>
              <a:rPr lang="en-US" dirty="0"/>
              <a:t> in several models so that delayed flights receive more weight during training.</a:t>
            </a:r>
          </a:p>
        </p:txBody>
      </p:sp>
      <p:sp>
        <p:nvSpPr>
          <p:cNvPr id="4" name="Slide Number Placeholder 3"/>
          <p:cNvSpPr>
            <a:spLocks noGrp="1"/>
          </p:cNvSpPr>
          <p:nvPr>
            <p:ph type="sldNum" sz="quarter" idx="5"/>
          </p:nvPr>
        </p:nvSpPr>
        <p:spPr/>
        <p:txBody>
          <a:bodyPr/>
          <a:lstStyle/>
          <a:p>
            <a:fld id="{8DD329E3-EEED-4BF4-90B5-72B2E25D3158}" type="slidenum">
              <a:rPr lang="en-US" smtClean="0"/>
              <a:t>7</a:t>
            </a:fld>
            <a:endParaRPr lang="en-US"/>
          </a:p>
        </p:txBody>
      </p:sp>
    </p:spTree>
    <p:extLst>
      <p:ext uri="{BB962C8B-B14F-4D97-AF65-F5344CB8AC3E}">
        <p14:creationId xmlns:p14="http://schemas.microsoft.com/office/powerpoint/2010/main" val="3183001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saw in the EDA, delay behavior varies by airline, route, time of day and season.</a:t>
            </a:r>
            <a:br>
              <a:rPr lang="en-US" dirty="0"/>
            </a:br>
            <a:r>
              <a:rPr lang="en-US" dirty="0"/>
              <a:t>To capture this heterogeneity, we design a </a:t>
            </a:r>
            <a:r>
              <a:rPr lang="en-US" b="1" dirty="0"/>
              <a:t>Cluster-Specific Ensemble</a:t>
            </a:r>
            <a:r>
              <a:rPr lang="en-US" dirty="0"/>
              <a:t>.</a:t>
            </a:r>
            <a:br>
              <a:rPr lang="en-US" dirty="0"/>
            </a:br>
            <a:r>
              <a:rPr lang="en-US" dirty="0"/>
              <a:t>We first take numeric pre-departure features – Month, </a:t>
            </a:r>
            <a:r>
              <a:rPr lang="en-US" dirty="0" err="1"/>
              <a:t>DayOfWeek</a:t>
            </a:r>
            <a:r>
              <a:rPr lang="en-US" dirty="0"/>
              <a:t>, departure time in minutes and distance – standardize them, and apply </a:t>
            </a:r>
            <a:r>
              <a:rPr lang="en-US" b="1" dirty="0"/>
              <a:t>k-means clustering with K = 4</a:t>
            </a:r>
            <a:r>
              <a:rPr lang="en-US" dirty="0"/>
              <a:t>.</a:t>
            </a:r>
            <a:br>
              <a:rPr lang="en-US" dirty="0"/>
            </a:br>
            <a:r>
              <a:rPr lang="en-US" dirty="0"/>
              <a:t>Each flight is assigned to one of four clusters based on its time and distance profile.</a:t>
            </a:r>
            <a:br>
              <a:rPr lang="en-US" dirty="0"/>
            </a:br>
            <a:r>
              <a:rPr lang="en-US" dirty="0"/>
              <a:t>For each cluster, we then train a separate Random Forest classifier using only the flights in that cluster.</a:t>
            </a:r>
            <a:br>
              <a:rPr lang="en-US" dirty="0"/>
            </a:br>
            <a:r>
              <a:rPr lang="en-US" dirty="0"/>
              <a:t>At prediction time, a new flight is assigned to a cluster using k-means, and we use that cluster’s Random Forest to predict whether it will be delayed.</a:t>
            </a:r>
          </a:p>
        </p:txBody>
      </p:sp>
      <p:sp>
        <p:nvSpPr>
          <p:cNvPr id="4" name="Slide Number Placeholder 3"/>
          <p:cNvSpPr>
            <a:spLocks noGrp="1"/>
          </p:cNvSpPr>
          <p:nvPr>
            <p:ph type="sldNum" sz="quarter" idx="5"/>
          </p:nvPr>
        </p:nvSpPr>
        <p:spPr/>
        <p:txBody>
          <a:bodyPr/>
          <a:lstStyle/>
          <a:p>
            <a:fld id="{8DD329E3-EEED-4BF4-90B5-72B2E25D3158}" type="slidenum">
              <a:rPr lang="en-US" smtClean="0"/>
              <a:t>9</a:t>
            </a:fld>
            <a:endParaRPr lang="en-US"/>
          </a:p>
        </p:txBody>
      </p:sp>
    </p:spTree>
    <p:extLst>
      <p:ext uri="{BB962C8B-B14F-4D97-AF65-F5344CB8AC3E}">
        <p14:creationId xmlns:p14="http://schemas.microsoft.com/office/powerpoint/2010/main" val="2425562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all models on a held-out </a:t>
            </a:r>
            <a:r>
              <a:rPr lang="en-US" b="1" dirty="0"/>
              <a:t>20% test set</a:t>
            </a:r>
            <a:r>
              <a:rPr lang="en-US" dirty="0"/>
              <a:t> that was never used during training, using an 80/20 stratified split to keep the same delay ratio.</a:t>
            </a:r>
            <a:br>
              <a:rPr lang="en-US" dirty="0"/>
            </a:br>
            <a:r>
              <a:rPr lang="en-US" dirty="0"/>
              <a:t>We report </a:t>
            </a:r>
            <a:r>
              <a:rPr lang="en-US" b="1" dirty="0"/>
              <a:t>accuracy</a:t>
            </a:r>
            <a:r>
              <a:rPr lang="en-US" dirty="0"/>
              <a:t>, which is the overall fraction of correctly classified flights.</a:t>
            </a:r>
            <a:br>
              <a:rPr lang="en-US" dirty="0"/>
            </a:br>
            <a:r>
              <a:rPr lang="en-US" dirty="0"/>
              <a:t>We also use </a:t>
            </a:r>
            <a:r>
              <a:rPr lang="en-US" b="1" dirty="0"/>
              <a:t>precision and recall</a:t>
            </a:r>
            <a:r>
              <a:rPr lang="en-US" dirty="0"/>
              <a:t>: precision tells us, of the flights predicted as delayed, how many were truly delayed; recall tells us, of all delayed flights, how many we actually caught.</a:t>
            </a:r>
            <a:br>
              <a:rPr lang="en-US" dirty="0"/>
            </a:br>
            <a:r>
              <a:rPr lang="en-US" dirty="0"/>
              <a:t>The </a:t>
            </a:r>
            <a:r>
              <a:rPr lang="en-US" b="1" dirty="0"/>
              <a:t>F1 score</a:t>
            </a:r>
            <a:r>
              <a:rPr lang="en-US" dirty="0"/>
              <a:t> combines precision and recall and is especially useful for our imbalanced data.</a:t>
            </a:r>
            <a:br>
              <a:rPr lang="en-US" dirty="0"/>
            </a:br>
            <a:r>
              <a:rPr lang="en-US" dirty="0"/>
              <a:t>We also compute </a:t>
            </a:r>
            <a:r>
              <a:rPr lang="en-US" b="1" dirty="0"/>
              <a:t>ROC–AUC</a:t>
            </a:r>
            <a:r>
              <a:rPr lang="en-US" dirty="0"/>
              <a:t>, which measures how well the model separates delayed and on-time flights across thresholds, and we inspect </a:t>
            </a:r>
            <a:r>
              <a:rPr lang="en-US" b="1" dirty="0"/>
              <a:t>confusion matrices</a:t>
            </a:r>
            <a:r>
              <a:rPr lang="en-US" dirty="0"/>
              <a:t> for the Random Forest and the CSE.”</a:t>
            </a:r>
          </a:p>
        </p:txBody>
      </p:sp>
      <p:sp>
        <p:nvSpPr>
          <p:cNvPr id="4" name="Slide Number Placeholder 3"/>
          <p:cNvSpPr>
            <a:spLocks noGrp="1"/>
          </p:cNvSpPr>
          <p:nvPr>
            <p:ph type="sldNum" sz="quarter" idx="5"/>
          </p:nvPr>
        </p:nvSpPr>
        <p:spPr/>
        <p:txBody>
          <a:bodyPr/>
          <a:lstStyle/>
          <a:p>
            <a:fld id="{8DD329E3-EEED-4BF4-90B5-72B2E25D3158}" type="slidenum">
              <a:rPr lang="en-US" smtClean="0"/>
              <a:t>10</a:t>
            </a:fld>
            <a:endParaRPr lang="en-US"/>
          </a:p>
        </p:txBody>
      </p:sp>
    </p:spTree>
    <p:extLst>
      <p:ext uri="{BB962C8B-B14F-4D97-AF65-F5344CB8AC3E}">
        <p14:creationId xmlns:p14="http://schemas.microsoft.com/office/powerpoint/2010/main" val="930140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highlight the </a:t>
            </a:r>
            <a:r>
              <a:rPr lang="en-US" b="1" dirty="0"/>
              <a:t>global Random Forest</a:t>
            </a:r>
            <a:r>
              <a:rPr lang="en-US" dirty="0"/>
              <a:t>, which is our best single global model.</a:t>
            </a:r>
            <a:br>
              <a:rPr lang="en-US" dirty="0"/>
            </a:br>
            <a:r>
              <a:rPr lang="en-US" dirty="0"/>
              <a:t>It captures non-linear relationships between features such as time, route and distance, and it handles class imbalance reasonably well via class weights.</a:t>
            </a:r>
            <a:br>
              <a:rPr lang="en-US" dirty="0"/>
            </a:br>
            <a:r>
              <a:rPr lang="en-US" dirty="0"/>
              <a:t>Because of this strong performance, we use the Random Forest as our main baseline when judging the CSE.</a:t>
            </a:r>
            <a:br>
              <a:rPr lang="en-US" dirty="0"/>
            </a:br>
            <a:br>
              <a:rPr lang="en-US" dirty="0"/>
            </a:br>
            <a:r>
              <a:rPr lang="en-US" dirty="0"/>
              <a:t>This slide focuses on the </a:t>
            </a:r>
            <a:r>
              <a:rPr lang="en-US" b="1" dirty="0"/>
              <a:t>Cluster-Specific Ensemble</a:t>
            </a:r>
            <a:r>
              <a:rPr lang="en-US" dirty="0"/>
              <a:t>.</a:t>
            </a:r>
            <a:br>
              <a:rPr lang="en-US" dirty="0"/>
            </a:br>
            <a:r>
              <a:rPr lang="en-US" dirty="0"/>
              <a:t>Remember that CSE clusters flights using k-means and trains a separate Random Forest in each cluster.</a:t>
            </a:r>
            <a:br>
              <a:rPr lang="en-US" dirty="0"/>
            </a:br>
            <a:r>
              <a:rPr lang="en-US" dirty="0"/>
              <a:t>On the test set, its accuracy, F1 score and ROC–AUC are </a:t>
            </a:r>
            <a:r>
              <a:rPr lang="en-US" b="1" dirty="0"/>
              <a:t>very close</a:t>
            </a:r>
            <a:r>
              <a:rPr lang="en-US" dirty="0"/>
              <a:t> to the global Random Forest.</a:t>
            </a:r>
            <a:br>
              <a:rPr lang="en-US" dirty="0"/>
            </a:br>
            <a:r>
              <a:rPr lang="en-US" dirty="0"/>
              <a:t>In other words, clustering on basic time and distance features alone does not give a big performance gain, but it shows that cluster-specific models can at least </a:t>
            </a:r>
            <a:r>
              <a:rPr lang="en-US" b="1" dirty="0"/>
              <a:t>match</a:t>
            </a:r>
            <a:r>
              <a:rPr lang="en-US" dirty="0"/>
              <a:t> a strong global model and provide a flexible framework for adding richer features in the future</a:t>
            </a:r>
            <a:br>
              <a:rPr lang="en-US" dirty="0"/>
            </a:br>
            <a:br>
              <a:rPr lang="en-US" dirty="0"/>
            </a:br>
            <a:r>
              <a:rPr lang="en-US" dirty="0"/>
              <a:t>Now we compare the performance of all models on the test set using these metrics. The detailed numbers are shown on the next slide.</a:t>
            </a:r>
          </a:p>
        </p:txBody>
      </p:sp>
      <p:sp>
        <p:nvSpPr>
          <p:cNvPr id="4" name="Slide Number Placeholder 3"/>
          <p:cNvSpPr>
            <a:spLocks noGrp="1"/>
          </p:cNvSpPr>
          <p:nvPr>
            <p:ph type="sldNum" sz="quarter" idx="5"/>
          </p:nvPr>
        </p:nvSpPr>
        <p:spPr/>
        <p:txBody>
          <a:bodyPr/>
          <a:lstStyle/>
          <a:p>
            <a:fld id="{8DD329E3-EEED-4BF4-90B5-72B2E25D3158}" type="slidenum">
              <a:rPr lang="en-US" smtClean="0"/>
              <a:t>11</a:t>
            </a:fld>
            <a:endParaRPr lang="en-US"/>
          </a:p>
        </p:txBody>
      </p:sp>
    </p:spTree>
    <p:extLst>
      <p:ext uri="{BB962C8B-B14F-4D97-AF65-F5344CB8AC3E}">
        <p14:creationId xmlns:p14="http://schemas.microsoft.com/office/powerpoint/2010/main" val="3021920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test-set metrics for all models.</a:t>
            </a:r>
            <a:br>
              <a:rPr lang="en-US" dirty="0"/>
            </a:br>
            <a:r>
              <a:rPr lang="en-US" dirty="0"/>
              <a:t>The first row is the </a:t>
            </a:r>
            <a:r>
              <a:rPr lang="en-US" b="1" dirty="0"/>
              <a:t>majority-class dummy model</a:t>
            </a:r>
            <a:r>
              <a:rPr lang="en-US" dirty="0"/>
              <a:t>. It has high accuracy because most flights are on time, but its F1 score is zero and it has no ROC–AUC value, so it’s not useful for detecting delays.</a:t>
            </a:r>
            <a:br>
              <a:rPr lang="en-US" dirty="0"/>
            </a:br>
            <a:r>
              <a:rPr lang="en-US" dirty="0"/>
              <a:t>Logistic Regression, Decision Tree and SVM all improve over the dummy model but still have moderate F1 and ROC–AUC.</a:t>
            </a:r>
            <a:br>
              <a:rPr lang="en-US" dirty="0"/>
            </a:br>
            <a:r>
              <a:rPr lang="en-US" dirty="0"/>
              <a:t>The </a:t>
            </a:r>
            <a:r>
              <a:rPr lang="en-US" b="1" dirty="0"/>
              <a:t>Random Forest</a:t>
            </a:r>
            <a:r>
              <a:rPr lang="en-US" dirty="0"/>
              <a:t> stands out among the global models with the best combination of accuracy, F1 score and ROC–AUC around 0.64.</a:t>
            </a:r>
            <a:br>
              <a:rPr lang="en-US" dirty="0"/>
            </a:br>
            <a:r>
              <a:rPr lang="en-US" dirty="0"/>
              <a:t>Our </a:t>
            </a:r>
            <a:r>
              <a:rPr lang="en-US" b="1" dirty="0"/>
              <a:t>Cluster-Specific Ensemble (CSE)</a:t>
            </a:r>
            <a:r>
              <a:rPr lang="en-US" dirty="0"/>
              <a:t> achieves very similar accuracy, F1 and ROC–AUC compared to the global Random Forest, so it can match the best global model but does not clearly outperform it.</a:t>
            </a:r>
          </a:p>
        </p:txBody>
      </p:sp>
      <p:sp>
        <p:nvSpPr>
          <p:cNvPr id="4" name="Slide Number Placeholder 3"/>
          <p:cNvSpPr>
            <a:spLocks noGrp="1"/>
          </p:cNvSpPr>
          <p:nvPr>
            <p:ph type="sldNum" sz="quarter" idx="5"/>
          </p:nvPr>
        </p:nvSpPr>
        <p:spPr/>
        <p:txBody>
          <a:bodyPr/>
          <a:lstStyle/>
          <a:p>
            <a:fld id="{8DD329E3-EEED-4BF4-90B5-72B2E25D3158}" type="slidenum">
              <a:rPr lang="en-US" smtClean="0"/>
              <a:t>12</a:t>
            </a:fld>
            <a:endParaRPr lang="en-US"/>
          </a:p>
        </p:txBody>
      </p:sp>
    </p:spTree>
    <p:extLst>
      <p:ext uri="{BB962C8B-B14F-4D97-AF65-F5344CB8AC3E}">
        <p14:creationId xmlns:p14="http://schemas.microsoft.com/office/powerpoint/2010/main" val="3272685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confusion matrices for the </a:t>
            </a:r>
            <a:r>
              <a:rPr lang="en-US" b="1" dirty="0"/>
              <a:t>Random Forest</a:t>
            </a:r>
            <a:r>
              <a:rPr lang="en-US" dirty="0"/>
              <a:t> on the left and the </a:t>
            </a:r>
            <a:r>
              <a:rPr lang="en-US" b="1" dirty="0"/>
              <a:t>CSE</a:t>
            </a:r>
            <a:r>
              <a:rPr lang="en-US" dirty="0"/>
              <a:t> on the right.</a:t>
            </a:r>
            <a:br>
              <a:rPr lang="en-US" dirty="0"/>
            </a:br>
            <a:r>
              <a:rPr lang="en-US" dirty="0"/>
              <a:t>In both models, most on-time flights are correctly classified as on time – those are the large true-negative counts in the top-left cells.</a:t>
            </a:r>
            <a:br>
              <a:rPr lang="en-US" dirty="0"/>
            </a:br>
            <a:r>
              <a:rPr lang="en-US" dirty="0"/>
              <a:t>Both models also correctly identify a reasonable number of delayed flights – the true positives in the bottom-right.</a:t>
            </a:r>
            <a:br>
              <a:rPr lang="en-US" dirty="0"/>
            </a:br>
            <a:r>
              <a:rPr lang="en-US" dirty="0"/>
              <a:t>However, some delayed flights are still missed and predicted as on time, which are the false negatives in the bottom-left cells.</a:t>
            </a:r>
            <a:br>
              <a:rPr lang="en-US" dirty="0"/>
            </a:br>
            <a:r>
              <a:rPr lang="en-US" dirty="0"/>
              <a:t>Overall, the patterns of errors are very similar for Random Forest and CSE, which is consistent with their similar F1 and ROC–AUC values.</a:t>
            </a:r>
          </a:p>
        </p:txBody>
      </p:sp>
      <p:sp>
        <p:nvSpPr>
          <p:cNvPr id="4" name="Slide Number Placeholder 3"/>
          <p:cNvSpPr>
            <a:spLocks noGrp="1"/>
          </p:cNvSpPr>
          <p:nvPr>
            <p:ph type="sldNum" sz="quarter" idx="5"/>
          </p:nvPr>
        </p:nvSpPr>
        <p:spPr/>
        <p:txBody>
          <a:bodyPr/>
          <a:lstStyle/>
          <a:p>
            <a:fld id="{8DD329E3-EEED-4BF4-90B5-72B2E25D3158}" type="slidenum">
              <a:rPr lang="en-US" smtClean="0"/>
              <a:t>14</a:t>
            </a:fld>
            <a:endParaRPr lang="en-US"/>
          </a:p>
        </p:txBody>
      </p:sp>
    </p:spTree>
    <p:extLst>
      <p:ext uri="{BB962C8B-B14F-4D97-AF65-F5344CB8AC3E}">
        <p14:creationId xmlns:p14="http://schemas.microsoft.com/office/powerpoint/2010/main" val="3044482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flight delay prediction system that uses only pre-departure information to predict whether a flight will be delayed by more than 15 minutes.</a:t>
            </a:r>
            <a:br>
              <a:rPr lang="en-US" dirty="0"/>
            </a:br>
            <a:r>
              <a:rPr lang="en-US" dirty="0"/>
              <a:t>Among our global models, the </a:t>
            </a:r>
            <a:r>
              <a:rPr lang="en-US" b="1" dirty="0"/>
              <a:t>Random Forest</a:t>
            </a:r>
            <a:r>
              <a:rPr lang="en-US" dirty="0"/>
              <a:t> achieved the best performance.</a:t>
            </a:r>
            <a:br>
              <a:rPr lang="en-US" dirty="0"/>
            </a:br>
            <a:r>
              <a:rPr lang="en-US" dirty="0"/>
              <a:t>Our </a:t>
            </a:r>
            <a:r>
              <a:rPr lang="en-US" b="1" dirty="0"/>
              <a:t>Cluster-Specific Ensemble</a:t>
            </a:r>
            <a:r>
              <a:rPr lang="en-US" dirty="0"/>
              <a:t>, based on k-means clustering and Random Forests per cluster, achieved performance very similar to the global Random Forest.</a:t>
            </a:r>
            <a:br>
              <a:rPr lang="en-US" dirty="0"/>
            </a:br>
            <a:r>
              <a:rPr lang="en-US" dirty="0"/>
              <a:t>This suggests that clustering on basic time and distance features alone does not greatly improve over a strong global model, but cluster-specific models can match that performance and are promising when richer features are available.</a:t>
            </a:r>
            <a:br>
              <a:rPr lang="en-US" dirty="0"/>
            </a:br>
            <a:br>
              <a:rPr lang="en-US" dirty="0"/>
            </a:br>
            <a:r>
              <a:rPr lang="en-US" dirty="0"/>
              <a:t>For </a:t>
            </a:r>
            <a:r>
              <a:rPr lang="en-US" b="1" dirty="0"/>
              <a:t>future work</a:t>
            </a:r>
            <a:r>
              <a:rPr lang="en-US" dirty="0"/>
              <a:t>, we would like to add richer features such as weather, holidays and airport congestion and see whether they improve both clustering and prediction.</a:t>
            </a:r>
            <a:br>
              <a:rPr lang="en-US" dirty="0"/>
            </a:br>
            <a:r>
              <a:rPr lang="en-US" dirty="0"/>
              <a:t>We also plan to explore other clustering strategies and more powerful models inside clusters, such as gradient boosting or </a:t>
            </a:r>
            <a:r>
              <a:rPr lang="en-US" dirty="0" err="1"/>
              <a:t>XGBoost</a:t>
            </a:r>
            <a:r>
              <a:rPr lang="en-US" dirty="0"/>
              <a:t>, and perform more extensive hyperparameter tuning.</a:t>
            </a:r>
            <a:br>
              <a:rPr lang="en-US" dirty="0"/>
            </a:br>
            <a:endParaRPr lang="en-US" dirty="0"/>
          </a:p>
        </p:txBody>
      </p:sp>
      <p:sp>
        <p:nvSpPr>
          <p:cNvPr id="4" name="Slide Number Placeholder 3"/>
          <p:cNvSpPr>
            <a:spLocks noGrp="1"/>
          </p:cNvSpPr>
          <p:nvPr>
            <p:ph type="sldNum" sz="quarter" idx="5"/>
          </p:nvPr>
        </p:nvSpPr>
        <p:spPr/>
        <p:txBody>
          <a:bodyPr/>
          <a:lstStyle/>
          <a:p>
            <a:fld id="{8DD329E3-EEED-4BF4-90B5-72B2E25D3158}" type="slidenum">
              <a:rPr lang="en-US" smtClean="0"/>
              <a:t>15</a:t>
            </a:fld>
            <a:endParaRPr lang="en-US"/>
          </a:p>
        </p:txBody>
      </p:sp>
    </p:spTree>
    <p:extLst>
      <p:ext uri="{BB962C8B-B14F-4D97-AF65-F5344CB8AC3E}">
        <p14:creationId xmlns:p14="http://schemas.microsoft.com/office/powerpoint/2010/main" val="1378566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a:t>
            </a:r>
          </a:p>
        </p:txBody>
      </p:sp>
      <p:sp>
        <p:nvSpPr>
          <p:cNvPr id="4" name="Slide Number Placeholder 3"/>
          <p:cNvSpPr>
            <a:spLocks noGrp="1"/>
          </p:cNvSpPr>
          <p:nvPr>
            <p:ph type="sldNum" sz="quarter" idx="5"/>
          </p:nvPr>
        </p:nvSpPr>
        <p:spPr/>
        <p:txBody>
          <a:bodyPr/>
          <a:lstStyle/>
          <a:p>
            <a:fld id="{8DD329E3-EEED-4BF4-90B5-72B2E25D3158}" type="slidenum">
              <a:rPr lang="en-US" smtClean="0"/>
              <a:t>16</a:t>
            </a:fld>
            <a:endParaRPr lang="en-US"/>
          </a:p>
        </p:txBody>
      </p:sp>
    </p:spTree>
    <p:extLst>
      <p:ext uri="{BB962C8B-B14F-4D97-AF65-F5344CB8AC3E}">
        <p14:creationId xmlns:p14="http://schemas.microsoft.com/office/powerpoint/2010/main" val="33082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C884A-5C45-F2D1-AE3B-D09FDA5251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2DA74E-C870-FA1F-64C0-547C0D54F4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536434-CB84-806D-9CC9-8A91A6A95736}"/>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5" name="Footer Placeholder 4">
            <a:extLst>
              <a:ext uri="{FF2B5EF4-FFF2-40B4-BE49-F238E27FC236}">
                <a16:creationId xmlns:a16="http://schemas.microsoft.com/office/drawing/2014/main" id="{7F2E4C53-3C57-2785-4DEA-E3D8E0DE48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5823E-C972-0FDD-4C46-C8BC863E2A28}"/>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2663900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5930-367D-DB4C-738E-3F12247CCD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811B3C-C25D-4F42-B0B6-36ED9C98B0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30FB4-AD83-9C7A-1E26-6AB76B696B60}"/>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5" name="Footer Placeholder 4">
            <a:extLst>
              <a:ext uri="{FF2B5EF4-FFF2-40B4-BE49-F238E27FC236}">
                <a16:creationId xmlns:a16="http://schemas.microsoft.com/office/drawing/2014/main" id="{B1AC3652-9943-BF9A-9FB3-9414C3C8D5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4B3420-2763-66E6-DA14-1C0936A7186D}"/>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222659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8D01-9083-F13A-FB17-95623EF754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DC050-F1B8-4573-996E-EE0A383774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9422D3-3D6F-32C0-89F0-300048F1C705}"/>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5" name="Footer Placeholder 4">
            <a:extLst>
              <a:ext uri="{FF2B5EF4-FFF2-40B4-BE49-F238E27FC236}">
                <a16:creationId xmlns:a16="http://schemas.microsoft.com/office/drawing/2014/main" id="{911C60E5-A132-4878-1C32-7921DC1AA0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E8A0AD-E44E-9DDC-C251-C944F9F76F4D}"/>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3999813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53BA-5BD9-01C1-2668-9E115AAA13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0DA14C-B333-5CBD-80E6-0A30340CC5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EE0C5D-2A11-C8AF-2C57-FC41D888E3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573D18-93EA-FFF9-8AF8-5E0417CB6E43}"/>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6" name="Footer Placeholder 5">
            <a:extLst>
              <a:ext uri="{FF2B5EF4-FFF2-40B4-BE49-F238E27FC236}">
                <a16:creationId xmlns:a16="http://schemas.microsoft.com/office/drawing/2014/main" id="{F926889F-436E-434D-1B56-CE3CCE091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808134-ABEE-09C6-7576-B42CE4BD28B7}"/>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2959619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F649-1B63-7370-2206-6091F92125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B72A7E-74D2-7EF2-9D45-B9E1DD8BB6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F06E32-1EA6-2E8A-6A63-647D19F966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BF8E6B-722A-4AC7-D4FB-F8CF1765F5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CE91C3-2C3C-9F0B-4291-773D0AA16E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BF632F-A435-4597-A5BF-E0339D69DF19}"/>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8" name="Footer Placeholder 7">
            <a:extLst>
              <a:ext uri="{FF2B5EF4-FFF2-40B4-BE49-F238E27FC236}">
                <a16:creationId xmlns:a16="http://schemas.microsoft.com/office/drawing/2014/main" id="{9FD30E23-607D-9776-CCC5-29BFC4DAF3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D887C1-95DD-630E-9BE9-1737FC53EDC3}"/>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3561092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D26E5-B875-0116-4A39-126014135F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3B96B0-B282-2872-8557-965E13D270FE}"/>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4" name="Footer Placeholder 3">
            <a:extLst>
              <a:ext uri="{FF2B5EF4-FFF2-40B4-BE49-F238E27FC236}">
                <a16:creationId xmlns:a16="http://schemas.microsoft.com/office/drawing/2014/main" id="{EEA00B31-8D1D-5D6E-0946-40C9940884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565F90-A66D-802E-9984-B107E20E8870}"/>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25035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C94E8-AC97-F008-AC30-DF5CE56BE0AA}"/>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3" name="Footer Placeholder 2">
            <a:extLst>
              <a:ext uri="{FF2B5EF4-FFF2-40B4-BE49-F238E27FC236}">
                <a16:creationId xmlns:a16="http://schemas.microsoft.com/office/drawing/2014/main" id="{BCEF45B5-06B7-4CC3-8B8D-9922001B81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273BD4-2826-59F3-0484-CBE571643856}"/>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3946145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E8E98-08B1-767B-E138-5FFCA770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D9B586-C6D5-9D5D-86AB-2C6CA9F7C1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8A376E-1364-AFF0-3C86-8E879C8520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5D5E4E-EAD1-3A28-1832-1A9428DEF9EF}"/>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6" name="Footer Placeholder 5">
            <a:extLst>
              <a:ext uri="{FF2B5EF4-FFF2-40B4-BE49-F238E27FC236}">
                <a16:creationId xmlns:a16="http://schemas.microsoft.com/office/drawing/2014/main" id="{43AE810C-D92F-F135-1286-BD7C6E1E3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A08E29-0D1B-462B-8C4A-982D15894EBB}"/>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46543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A129-1C16-B50F-D9B3-D5DAFA0225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C7B14B-14E5-7C48-24BA-EEC59529B3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AF4159-FE7A-5332-0E0B-DCFE22A53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95B47A-5C4C-8D85-ECE0-C44304E4AE33}"/>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6" name="Footer Placeholder 5">
            <a:extLst>
              <a:ext uri="{FF2B5EF4-FFF2-40B4-BE49-F238E27FC236}">
                <a16:creationId xmlns:a16="http://schemas.microsoft.com/office/drawing/2014/main" id="{B5DD5A89-32EC-1695-E8C2-EB083BAD67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A6BD85-3A42-06AD-C2D9-C32159854059}"/>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4154698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DE3C5-568D-8FD3-CD23-6CBB15249F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A9A643-6B73-339D-62EA-A70B3C9596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4D954-C32B-D502-3EF2-661A4B20906D}"/>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5" name="Footer Placeholder 4">
            <a:extLst>
              <a:ext uri="{FF2B5EF4-FFF2-40B4-BE49-F238E27FC236}">
                <a16:creationId xmlns:a16="http://schemas.microsoft.com/office/drawing/2014/main" id="{AB3E9C5A-5850-E977-BEBA-FBC8510D1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5DC9A-FEF6-4324-8761-F607A75D4F41}"/>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199062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F01227-B92D-87A6-67BA-698A2DC5ED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AC1E9-0B8D-A361-1408-B116B510D4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930387-F2D9-E42E-8D34-064F17C5678D}"/>
              </a:ext>
            </a:extLst>
          </p:cNvPr>
          <p:cNvSpPr>
            <a:spLocks noGrp="1"/>
          </p:cNvSpPr>
          <p:nvPr>
            <p:ph type="dt" sz="half" idx="10"/>
          </p:nvPr>
        </p:nvSpPr>
        <p:spPr/>
        <p:txBody>
          <a:bodyPr/>
          <a:lstStyle/>
          <a:p>
            <a:fld id="{6E281F2F-CDB3-41EB-B415-2AF9BC4EF440}" type="datetimeFigureOut">
              <a:rPr lang="en-US" smtClean="0"/>
              <a:t>12/2/2025</a:t>
            </a:fld>
            <a:endParaRPr lang="en-US"/>
          </a:p>
        </p:txBody>
      </p:sp>
      <p:sp>
        <p:nvSpPr>
          <p:cNvPr id="5" name="Footer Placeholder 4">
            <a:extLst>
              <a:ext uri="{FF2B5EF4-FFF2-40B4-BE49-F238E27FC236}">
                <a16:creationId xmlns:a16="http://schemas.microsoft.com/office/drawing/2014/main" id="{E6173070-D4BA-5E4D-B2D5-3B311A4C69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3E56C-8196-6F90-FACF-F89E7323470A}"/>
              </a:ext>
            </a:extLst>
          </p:cNvPr>
          <p:cNvSpPr>
            <a:spLocks noGrp="1"/>
          </p:cNvSpPr>
          <p:nvPr>
            <p:ph type="sldNum" sz="quarter" idx="12"/>
          </p:nvPr>
        </p:nvSpPr>
        <p:spPr/>
        <p:txBody>
          <a:bodyPr/>
          <a:lstStyle/>
          <a:p>
            <a:fld id="{E828ACC1-499E-43FB-A6E1-45E62D0A0247}" type="slidenum">
              <a:rPr lang="en-US" smtClean="0"/>
              <a:t>‹#›</a:t>
            </a:fld>
            <a:endParaRPr lang="en-US"/>
          </a:p>
        </p:txBody>
      </p:sp>
    </p:spTree>
    <p:extLst>
      <p:ext uri="{BB962C8B-B14F-4D97-AF65-F5344CB8AC3E}">
        <p14:creationId xmlns:p14="http://schemas.microsoft.com/office/powerpoint/2010/main" val="1155159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alpha val="86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76E01D-4A37-9AA2-65F6-749A1BDBA6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1A2F78-2921-EC77-8E7F-CCBED21FB4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1E91D-9C48-8AA6-0F09-A5DC0000A9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281F2F-CDB3-41EB-B415-2AF9BC4EF440}" type="datetimeFigureOut">
              <a:rPr lang="en-US" smtClean="0"/>
              <a:t>12/2/2025</a:t>
            </a:fld>
            <a:endParaRPr lang="en-US"/>
          </a:p>
        </p:txBody>
      </p:sp>
      <p:sp>
        <p:nvSpPr>
          <p:cNvPr id="5" name="Footer Placeholder 4">
            <a:extLst>
              <a:ext uri="{FF2B5EF4-FFF2-40B4-BE49-F238E27FC236}">
                <a16:creationId xmlns:a16="http://schemas.microsoft.com/office/drawing/2014/main" id="{F95D1292-B48B-EC07-C8EB-30AE95BF9C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F269E2-8C5B-D31F-5AD0-51456C2D48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28ACC1-499E-43FB-A6E1-45E62D0A0247}" type="slidenum">
              <a:rPr lang="en-US" smtClean="0"/>
              <a:t>‹#›</a:t>
            </a:fld>
            <a:endParaRPr lang="en-US"/>
          </a:p>
        </p:txBody>
      </p:sp>
    </p:spTree>
    <p:extLst>
      <p:ext uri="{BB962C8B-B14F-4D97-AF65-F5344CB8AC3E}">
        <p14:creationId xmlns:p14="http://schemas.microsoft.com/office/powerpoint/2010/main" val="1626328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6595A1-6112-537F-E0B8-09D491B006D9}"/>
              </a:ext>
            </a:extLst>
          </p:cNvPr>
          <p:cNvSpPr>
            <a:spLocks noGrp="1"/>
          </p:cNvSpPr>
          <p:nvPr>
            <p:ph type="ctrTitle"/>
          </p:nvPr>
        </p:nvSpPr>
        <p:spPr>
          <a:xfrm>
            <a:off x="2331924" y="111501"/>
            <a:ext cx="7896092" cy="2839273"/>
          </a:xfrm>
        </p:spPr>
        <p:txBody>
          <a:bodyPr>
            <a:normAutofit/>
          </a:bodyPr>
          <a:lstStyle/>
          <a:p>
            <a:pPr algn="l"/>
            <a:r>
              <a:rPr lang="en-US" sz="4000" b="1" dirty="0">
                <a:solidFill>
                  <a:srgbClr val="FFFFFF"/>
                </a:solidFill>
              </a:rPr>
              <a:t>      Flight Delay Prediction Using Cluster-Specific Ensemble Models</a:t>
            </a:r>
            <a:br>
              <a:rPr lang="en-US" sz="4000" b="1" dirty="0">
                <a:solidFill>
                  <a:srgbClr val="FFFFFF"/>
                </a:solidFill>
              </a:rPr>
            </a:br>
            <a:r>
              <a:rPr lang="en-US" sz="4000" b="1" dirty="0">
                <a:solidFill>
                  <a:srgbClr val="FFFFFF"/>
                </a:solidFill>
              </a:rPr>
              <a:t>      </a:t>
            </a:r>
            <a:r>
              <a:rPr lang="en-US" sz="2400" dirty="0">
                <a:solidFill>
                  <a:schemeClr val="bg1"/>
                </a:solidFill>
              </a:rPr>
              <a:t>Classical ML, Cluster-Specific Ensemble, and LSTM</a:t>
            </a:r>
            <a:endParaRPr lang="en-US" sz="2400" b="1" dirty="0">
              <a:solidFill>
                <a:schemeClr val="bg1"/>
              </a:solidFill>
            </a:endParaRPr>
          </a:p>
        </p:txBody>
      </p:sp>
      <p:sp>
        <p:nvSpPr>
          <p:cNvPr id="3" name="Subtitle 2">
            <a:extLst>
              <a:ext uri="{FF2B5EF4-FFF2-40B4-BE49-F238E27FC236}">
                <a16:creationId xmlns:a16="http://schemas.microsoft.com/office/drawing/2014/main" id="{023E139B-324F-0608-06E5-9561F1F91AB3}"/>
              </a:ext>
            </a:extLst>
          </p:cNvPr>
          <p:cNvSpPr>
            <a:spLocks noGrp="1"/>
          </p:cNvSpPr>
          <p:nvPr>
            <p:ph type="subTitle" idx="1"/>
          </p:nvPr>
        </p:nvSpPr>
        <p:spPr>
          <a:xfrm>
            <a:off x="3769465" y="4785349"/>
            <a:ext cx="5236972" cy="850998"/>
          </a:xfrm>
        </p:spPr>
        <p:txBody>
          <a:bodyPr>
            <a:noAutofit/>
          </a:bodyPr>
          <a:lstStyle/>
          <a:p>
            <a:pPr algn="l"/>
            <a:r>
              <a:rPr lang="en-US" sz="2000" b="1" dirty="0">
                <a:solidFill>
                  <a:srgbClr val="FFFFFF"/>
                </a:solidFill>
              </a:rPr>
              <a:t>     DASC-5380-W01 - DATA ANALYTICS</a:t>
            </a:r>
          </a:p>
          <a:p>
            <a:pPr algn="l"/>
            <a:r>
              <a:rPr lang="en-US" sz="2000" dirty="0">
                <a:solidFill>
                  <a:srgbClr val="FFFFFF"/>
                </a:solidFill>
              </a:rPr>
              <a:t>                Sri Surya </a:t>
            </a:r>
            <a:r>
              <a:rPr lang="en-US" sz="2000">
                <a:solidFill>
                  <a:srgbClr val="FFFFFF"/>
                </a:solidFill>
              </a:rPr>
              <a:t>Pravallika Ajjarapu </a:t>
            </a:r>
            <a:endParaRPr lang="en-US" sz="2000" dirty="0">
              <a:solidFill>
                <a:srgbClr val="FFFFFF"/>
              </a:solidFill>
            </a:endParaRPr>
          </a:p>
          <a:p>
            <a:pPr algn="l"/>
            <a:r>
              <a:rPr lang="en-US" sz="2000" dirty="0">
                <a:solidFill>
                  <a:srgbClr val="FFFFFF"/>
                </a:solidFill>
              </a:rPr>
              <a:t>                     </a:t>
            </a:r>
            <a:r>
              <a:rPr lang="en-US" sz="2000">
                <a:solidFill>
                  <a:srgbClr val="FFFFFF"/>
                </a:solidFill>
              </a:rPr>
              <a:t>Prathyusha Pentam</a:t>
            </a:r>
            <a:endParaRPr lang="en-US" sz="2000" dirty="0">
              <a:solidFill>
                <a:srgbClr val="FFFFFF"/>
              </a:solidFill>
            </a:endParaRPr>
          </a:p>
          <a:p>
            <a:pPr algn="l"/>
            <a:r>
              <a:rPr lang="en-US" sz="2000" dirty="0">
                <a:solidFill>
                  <a:srgbClr val="FFFFFF"/>
                </a:solidFill>
              </a:rPr>
              <a:t>Texas A and M University – Corpus Christi</a:t>
            </a:r>
          </a:p>
        </p:txBody>
      </p:sp>
    </p:spTree>
    <p:extLst>
      <p:ext uri="{BB962C8B-B14F-4D97-AF65-F5344CB8AC3E}">
        <p14:creationId xmlns:p14="http://schemas.microsoft.com/office/powerpoint/2010/main" val="699744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C7B123-F9DC-09FC-437D-7F803914BC89}"/>
              </a:ext>
            </a:extLst>
          </p:cNvPr>
          <p:cNvSpPr txBox="1"/>
          <p:nvPr/>
        </p:nvSpPr>
        <p:spPr>
          <a:xfrm>
            <a:off x="634718" y="2710934"/>
            <a:ext cx="6096000" cy="584775"/>
          </a:xfrm>
          <a:prstGeom prst="rect">
            <a:avLst/>
          </a:prstGeom>
          <a:noFill/>
        </p:spPr>
        <p:txBody>
          <a:bodyPr wrap="square">
            <a:spAutoFit/>
          </a:bodyPr>
          <a:lstStyle/>
          <a:p>
            <a:r>
              <a:rPr lang="en-US" sz="3200" b="1" dirty="0">
                <a:solidFill>
                  <a:schemeClr val="bg1"/>
                </a:solidFill>
              </a:rPr>
              <a:t>Introduction</a:t>
            </a:r>
          </a:p>
        </p:txBody>
      </p:sp>
      <p:sp>
        <p:nvSpPr>
          <p:cNvPr id="2" name="Rectangle 1">
            <a:extLst>
              <a:ext uri="{FF2B5EF4-FFF2-40B4-BE49-F238E27FC236}">
                <a16:creationId xmlns:a16="http://schemas.microsoft.com/office/drawing/2014/main" id="{5FA2C558-CA50-0E56-133D-2896319A5564}"/>
              </a:ext>
            </a:extLst>
          </p:cNvPr>
          <p:cNvSpPr>
            <a:spLocks noChangeArrowheads="1"/>
          </p:cNvSpPr>
          <p:nvPr/>
        </p:nvSpPr>
        <p:spPr bwMode="auto">
          <a:xfrm>
            <a:off x="4180114" y="885617"/>
            <a:ext cx="768531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sz="1600" dirty="0">
                <a:solidFill>
                  <a:schemeClr val="bg1"/>
                </a:solidFill>
              </a:rPr>
              <a:t>Flight delays cause frustration and extra costs for passengers, airlines, and airports.</a:t>
            </a:r>
          </a:p>
          <a:p>
            <a:endParaRPr lang="en-US" sz="1600" dirty="0">
              <a:solidFill>
                <a:schemeClr val="bg1"/>
              </a:solidFill>
            </a:endParaRPr>
          </a:p>
          <a:p>
            <a:pPr marL="285750" indent="-285750">
              <a:buFont typeface="Wingdings" panose="05000000000000000000" pitchFamily="2" charset="2"/>
              <a:buChar char="Ø"/>
            </a:pPr>
            <a:r>
              <a:rPr lang="en-US" sz="1600" dirty="0">
                <a:solidFill>
                  <a:schemeClr val="bg1"/>
                </a:solidFill>
              </a:rPr>
              <a:t>They lead to missed connections, longer turnaround times, and inefficient use of gates and crews.</a:t>
            </a:r>
          </a:p>
          <a:p>
            <a:endParaRPr lang="en-US" sz="1600" dirty="0">
              <a:solidFill>
                <a:schemeClr val="bg1"/>
              </a:solidFill>
            </a:endParaRPr>
          </a:p>
          <a:p>
            <a:pPr marL="285750" indent="-285750">
              <a:buFont typeface="Wingdings" panose="05000000000000000000" pitchFamily="2" charset="2"/>
              <a:buChar char="Ø"/>
            </a:pPr>
            <a:r>
              <a:rPr lang="en-US" sz="1600" dirty="0">
                <a:solidFill>
                  <a:schemeClr val="bg1"/>
                </a:solidFill>
              </a:rPr>
              <a:t>Predicting delays </a:t>
            </a:r>
            <a:r>
              <a:rPr lang="en-US" sz="1600" i="1" dirty="0">
                <a:solidFill>
                  <a:schemeClr val="bg1"/>
                </a:solidFill>
              </a:rPr>
              <a:t>before departure</a:t>
            </a:r>
            <a:r>
              <a:rPr lang="en-US" sz="1600" dirty="0">
                <a:solidFill>
                  <a:schemeClr val="bg1"/>
                </a:solidFill>
              </a:rPr>
              <a:t> can help with planning, rebooking, and resource allocation.</a:t>
            </a:r>
          </a:p>
          <a:p>
            <a:endParaRPr lang="en-US" sz="1600" dirty="0">
              <a:solidFill>
                <a:schemeClr val="bg1"/>
              </a:solidFill>
            </a:endParaRPr>
          </a:p>
          <a:p>
            <a:pPr marL="285750" indent="-285750">
              <a:buFont typeface="Wingdings" panose="05000000000000000000" pitchFamily="2" charset="2"/>
              <a:buChar char="Ø"/>
            </a:pPr>
            <a:r>
              <a:rPr lang="en-US" sz="1600" dirty="0">
                <a:solidFill>
                  <a:schemeClr val="bg1"/>
                </a:solidFill>
              </a:rPr>
              <a:t>In this project, we use machine learning to predict whether a flight will be delayed by more than 15 minutes at arrival.</a:t>
            </a:r>
          </a:p>
          <a:p>
            <a:endParaRPr lang="en-US" sz="1600" dirty="0">
              <a:solidFill>
                <a:schemeClr val="bg1"/>
              </a:solidFill>
            </a:endParaRPr>
          </a:p>
          <a:p>
            <a:pPr marL="285750" indent="-285750">
              <a:buFont typeface="Wingdings" panose="05000000000000000000" pitchFamily="2" charset="2"/>
              <a:buChar char="Ø"/>
            </a:pPr>
            <a:r>
              <a:rPr lang="en-US" sz="1600" dirty="0">
                <a:solidFill>
                  <a:schemeClr val="bg1"/>
                </a:solidFill>
              </a:rPr>
              <a:t>We focus on this 15-minute threshold because it is commonly used in on-time performance statistics.</a:t>
            </a:r>
          </a:p>
          <a:p>
            <a:endParaRPr lang="en-US" sz="1600" dirty="0">
              <a:solidFill>
                <a:schemeClr val="bg1"/>
              </a:solidFill>
            </a:endParaRPr>
          </a:p>
          <a:p>
            <a:pPr marL="285750" indent="-285750">
              <a:buFont typeface="Wingdings" panose="05000000000000000000" pitchFamily="2" charset="2"/>
              <a:buChar char="Ø"/>
            </a:pPr>
            <a:r>
              <a:rPr lang="en-US" sz="1600" dirty="0">
                <a:solidFill>
                  <a:schemeClr val="bg1"/>
                </a:solidFill>
              </a:rPr>
              <a:t>We only use pre-departure information (airline, route, departure time, distance), so the model could be used in real time before the flight takes off.</a:t>
            </a:r>
          </a:p>
          <a:p>
            <a:endParaRPr lang="en-US" sz="1600" dirty="0">
              <a:solidFill>
                <a:schemeClr val="bg1"/>
              </a:solidFill>
            </a:endParaRPr>
          </a:p>
          <a:p>
            <a:pPr marL="285750" lvl="0" indent="-285750" eaLnBrk="0" fontAlgn="base" hangingPunct="0">
              <a:spcBef>
                <a:spcPct val="0"/>
              </a:spcBef>
              <a:spcAft>
                <a:spcPct val="0"/>
              </a:spcAft>
              <a:buFont typeface="Wingdings" panose="05000000000000000000" pitchFamily="2" charset="2"/>
              <a:buChar char="Ø"/>
            </a:pPr>
            <a:r>
              <a:rPr lang="en-US" dirty="0">
                <a:solidFill>
                  <a:schemeClr val="bg1"/>
                </a:solidFill>
              </a:rPr>
              <a:t>In addition to classical models and a Cluster-Specific Ensemble, we also experiment with a simple LSTM neural network as a deep-learning baseline.</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288094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1FBF5E-A4BE-C73E-A16D-F574B66A65C4}"/>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3200" b="1" kern="1200" dirty="0">
                <a:solidFill>
                  <a:schemeClr val="bg1"/>
                </a:solidFill>
                <a:latin typeface="+mj-lt"/>
                <a:ea typeface="+mj-ea"/>
                <a:cs typeface="+mj-cs"/>
              </a:rPr>
              <a:t>Problem Statement</a:t>
            </a:r>
          </a:p>
        </p:txBody>
      </p:sp>
      <p:sp>
        <p:nvSpPr>
          <p:cNvPr id="6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a:extLst>
              <a:ext uri="{FF2B5EF4-FFF2-40B4-BE49-F238E27FC236}">
                <a16:creationId xmlns:a16="http://schemas.microsoft.com/office/drawing/2014/main" id="{BB3A8C18-7E01-3AA1-CFEC-AF17BB259426}"/>
              </a:ext>
            </a:extLst>
          </p:cNvPr>
          <p:cNvSpPr>
            <a:spLocks noChangeArrowheads="1"/>
          </p:cNvSpPr>
          <p:nvPr/>
        </p:nvSpPr>
        <p:spPr bwMode="auto">
          <a:xfrm>
            <a:off x="3798914" y="2182693"/>
            <a:ext cx="7859686" cy="477860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lvl="0" indent="-228600" fontAlgn="base">
              <a:lnSpc>
                <a:spcPct val="90000"/>
              </a:lnSpc>
              <a:spcBef>
                <a:spcPct val="0"/>
              </a:spcBef>
              <a:spcAft>
                <a:spcPts val="600"/>
              </a:spcAft>
              <a:buFont typeface="Arial" panose="020B0604020202020204" pitchFamily="34" charset="0"/>
              <a:buChar char="•"/>
            </a:pPr>
            <a:endParaRPr kumimoji="0" lang="en-US" altLang="en-US" sz="1100" b="1" i="0" u="none" strike="noStrike" cap="none" normalizeH="0" baseline="0" dirty="0">
              <a:ln>
                <a:noFill/>
              </a:ln>
              <a:effectLst/>
            </a:endParaRPr>
          </a:p>
        </p:txBody>
      </p:sp>
      <p:sp>
        <p:nvSpPr>
          <p:cNvPr id="6" name="Rectangle 2">
            <a:extLst>
              <a:ext uri="{FF2B5EF4-FFF2-40B4-BE49-F238E27FC236}">
                <a16:creationId xmlns:a16="http://schemas.microsoft.com/office/drawing/2014/main" id="{CF5CECF0-1C1B-FC4C-EB54-AA1B88E6E935}"/>
              </a:ext>
            </a:extLst>
          </p:cNvPr>
          <p:cNvSpPr>
            <a:spLocks noChangeArrowheads="1"/>
          </p:cNvSpPr>
          <p:nvPr/>
        </p:nvSpPr>
        <p:spPr bwMode="auto">
          <a:xfrm>
            <a:off x="849085" y="3403208"/>
            <a:ext cx="11005457"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tabLst/>
            </a:pPr>
            <a:endParaRPr kumimoji="0" lang="en-US" altLang="en-US" b="0" i="0" u="none" strike="noStrike" cap="none" normalizeH="0" baseline="0">
              <a:ln>
                <a:noFill/>
              </a:ln>
              <a:solidFill>
                <a:schemeClr val="tx1">
                  <a:alpha val="89000"/>
                </a:schemeClr>
              </a:solidFill>
              <a:effectLst/>
              <a:latin typeface="Arial" panose="020B0604020202020204" pitchFamily="34" charset="0"/>
            </a:endParaRPr>
          </a:p>
          <a:p>
            <a:pPr marL="0" marR="0" lvl="0" indent="0" algn="l"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solidFill>
                <a:schemeClr val="tx1">
                  <a:alpha val="89000"/>
                </a:schemeClr>
              </a:solidFill>
              <a:effectLst/>
              <a:latin typeface="Arial" panose="020B0604020202020204" pitchFamily="34" charset="0"/>
            </a:endParaRPr>
          </a:p>
        </p:txBody>
      </p:sp>
      <p:graphicFrame>
        <p:nvGraphicFramePr>
          <p:cNvPr id="49" name="TextBox 14">
            <a:extLst>
              <a:ext uri="{FF2B5EF4-FFF2-40B4-BE49-F238E27FC236}">
                <a16:creationId xmlns:a16="http://schemas.microsoft.com/office/drawing/2014/main" id="{DA774E43-1007-AF03-BC66-F59836CBD4AD}"/>
              </a:ext>
            </a:extLst>
          </p:cNvPr>
          <p:cNvGraphicFramePr/>
          <p:nvPr>
            <p:extLst>
              <p:ext uri="{D42A27DB-BD31-4B8C-83A1-F6EECF244321}">
                <p14:modId xmlns:p14="http://schemas.microsoft.com/office/powerpoint/2010/main" val="308762728"/>
              </p:ext>
            </p:extLst>
          </p:nvPr>
        </p:nvGraphicFramePr>
        <p:xfrm>
          <a:off x="849085" y="2203449"/>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621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69DE2A-81AA-6C27-0642-ECD9E3C82AD9}"/>
              </a:ext>
            </a:extLst>
          </p:cNvPr>
          <p:cNvSpPr txBox="1"/>
          <p:nvPr/>
        </p:nvSpPr>
        <p:spPr>
          <a:xfrm>
            <a:off x="4310743" y="394732"/>
            <a:ext cx="6096000" cy="584775"/>
          </a:xfrm>
          <a:prstGeom prst="rect">
            <a:avLst/>
          </a:prstGeom>
          <a:noFill/>
        </p:spPr>
        <p:txBody>
          <a:bodyPr wrap="square">
            <a:spAutoFit/>
          </a:bodyPr>
          <a:lstStyle/>
          <a:p>
            <a:r>
              <a:rPr lang="en-US" sz="3200" b="1" dirty="0">
                <a:solidFill>
                  <a:schemeClr val="bg1"/>
                </a:solidFill>
              </a:rPr>
              <a:t>Dataset Overview</a:t>
            </a:r>
          </a:p>
        </p:txBody>
      </p:sp>
      <p:sp>
        <p:nvSpPr>
          <p:cNvPr id="4" name="Rectangle 1">
            <a:extLst>
              <a:ext uri="{FF2B5EF4-FFF2-40B4-BE49-F238E27FC236}">
                <a16:creationId xmlns:a16="http://schemas.microsoft.com/office/drawing/2014/main" id="{7C36BA80-9132-64FD-211C-122F417B69EF}"/>
              </a:ext>
            </a:extLst>
          </p:cNvPr>
          <p:cNvSpPr>
            <a:spLocks noChangeArrowheads="1"/>
          </p:cNvSpPr>
          <p:nvPr/>
        </p:nvSpPr>
        <p:spPr bwMode="auto">
          <a:xfrm>
            <a:off x="785587" y="1538844"/>
            <a:ext cx="10960099"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solidFill>
                  <a:schemeClr val="bg1"/>
                </a:solidFill>
              </a:rPr>
              <a:t>Dataset Source</a:t>
            </a:r>
            <a:br>
              <a:rPr lang="en-US" sz="1600" dirty="0">
                <a:solidFill>
                  <a:schemeClr val="bg1"/>
                </a:solidFill>
              </a:rPr>
            </a:br>
            <a:r>
              <a:rPr lang="en-US" sz="1600" dirty="0">
                <a:solidFill>
                  <a:schemeClr val="bg1"/>
                </a:solidFill>
              </a:rPr>
              <a:t>We use the Kaggle </a:t>
            </a:r>
            <a:r>
              <a:rPr lang="en-US" sz="1600" i="1" dirty="0">
                <a:solidFill>
                  <a:schemeClr val="bg1"/>
                </a:solidFill>
              </a:rPr>
              <a:t>Flight Delay Prediction</a:t>
            </a:r>
            <a:r>
              <a:rPr lang="en-US" sz="1600" dirty="0">
                <a:solidFill>
                  <a:schemeClr val="bg1"/>
                </a:solidFill>
              </a:rPr>
              <a:t> dataset, which contains several years of U.S. flight records from 2018 to 2022.</a:t>
            </a:r>
          </a:p>
          <a:p>
            <a:endParaRPr lang="en-US" sz="1600" dirty="0">
              <a:solidFill>
                <a:schemeClr val="bg1"/>
              </a:solidFill>
            </a:endParaRPr>
          </a:p>
          <a:p>
            <a:r>
              <a:rPr lang="en-US" sz="1600" b="1" dirty="0">
                <a:solidFill>
                  <a:schemeClr val="bg1"/>
                </a:solidFill>
              </a:rPr>
              <a:t>Observations</a:t>
            </a:r>
            <a:br>
              <a:rPr lang="en-US" sz="1600" dirty="0">
                <a:solidFill>
                  <a:schemeClr val="bg1"/>
                </a:solidFill>
              </a:rPr>
            </a:br>
            <a:r>
              <a:rPr lang="en-US" sz="1600" dirty="0">
                <a:solidFill>
                  <a:schemeClr val="bg1"/>
                </a:solidFill>
              </a:rPr>
              <a:t>Each row in the dataset corresponds to a single flight and includes information about the airline, the route, the scheduled times, and the recorded delays.</a:t>
            </a:r>
          </a:p>
          <a:p>
            <a:endParaRPr lang="en-US" sz="1600" dirty="0">
              <a:solidFill>
                <a:schemeClr val="bg1"/>
              </a:solidFill>
            </a:endParaRPr>
          </a:p>
          <a:p>
            <a:r>
              <a:rPr lang="en-US" sz="1600" b="1" dirty="0">
                <a:solidFill>
                  <a:schemeClr val="bg1"/>
                </a:solidFill>
              </a:rPr>
              <a:t>Target Variable</a:t>
            </a:r>
            <a:br>
              <a:rPr lang="en-US" sz="1600" dirty="0">
                <a:solidFill>
                  <a:schemeClr val="bg1"/>
                </a:solidFill>
              </a:rPr>
            </a:br>
            <a:r>
              <a:rPr lang="en-US" sz="1600" dirty="0">
                <a:solidFill>
                  <a:schemeClr val="bg1"/>
                </a:solidFill>
              </a:rPr>
              <a:t>Our target variable is ArrDel15, which is coded as 0 for on-time flights and 1 for flights delayed by more than 15 minutes at arrival.</a:t>
            </a:r>
          </a:p>
          <a:p>
            <a:endParaRPr lang="en-US" sz="1600" dirty="0">
              <a:solidFill>
                <a:schemeClr val="bg1"/>
              </a:solidFill>
            </a:endParaRPr>
          </a:p>
          <a:p>
            <a:r>
              <a:rPr lang="en-US" sz="1600" b="1" dirty="0">
                <a:solidFill>
                  <a:schemeClr val="bg1"/>
                </a:solidFill>
              </a:rPr>
              <a:t>Input Features (Pre-Departure Only)</a:t>
            </a:r>
            <a:br>
              <a:rPr lang="en-US" sz="1600" dirty="0">
                <a:solidFill>
                  <a:schemeClr val="bg1"/>
                </a:solidFill>
              </a:rPr>
            </a:br>
            <a:r>
              <a:rPr lang="en-US" sz="1600" dirty="0">
                <a:solidFill>
                  <a:schemeClr val="bg1"/>
                </a:solidFill>
              </a:rPr>
              <a:t>We restrict ourselves to pre-departure features so that our model can realistically be used before the flight takes off. The features we use are  month, day of week, scheduled departure time converted to minutes since midnight, flight distance, origin airport, destination airport, and the marketing airline code.</a:t>
            </a:r>
          </a:p>
          <a:p>
            <a:endParaRPr lang="en-US" sz="1600" dirty="0">
              <a:solidFill>
                <a:schemeClr val="bg1"/>
              </a:solidFill>
            </a:endParaRPr>
          </a:p>
          <a:p>
            <a:r>
              <a:rPr lang="en-US" sz="1600" b="1" dirty="0">
                <a:solidFill>
                  <a:schemeClr val="bg1"/>
                </a:solidFill>
              </a:rPr>
              <a:t>Sampling Strategy</a:t>
            </a:r>
            <a:br>
              <a:rPr lang="en-US" sz="1600" dirty="0">
                <a:solidFill>
                  <a:schemeClr val="bg1"/>
                </a:solidFill>
              </a:rPr>
            </a:br>
            <a:r>
              <a:rPr lang="en-US" sz="1600" dirty="0">
                <a:solidFill>
                  <a:schemeClr val="bg1"/>
                </a:solidFill>
              </a:rPr>
              <a:t>The dataset is moderately large, so we optionally sample a subset of flights for faster training while keeping the overall delay rate and class balance similar too the full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4159244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58000"/>
          </a:schemeClr>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97D2E41-789E-BAE1-DC8D-4DB8562C9F7B}"/>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latin typeface="+mj-lt"/>
                <a:ea typeface="+mj-ea"/>
                <a:cs typeface="+mj-cs"/>
              </a:rPr>
              <a:t>Implementation Flow</a:t>
            </a:r>
            <a:endParaRPr lang="en-US" sz="4000" kern="1200">
              <a:solidFill>
                <a:srgbClr val="FFFFFF"/>
              </a:solidFill>
              <a:latin typeface="+mj-lt"/>
              <a:ea typeface="+mj-ea"/>
              <a:cs typeface="+mj-cs"/>
            </a:endParaRPr>
          </a:p>
        </p:txBody>
      </p:sp>
      <p:graphicFrame>
        <p:nvGraphicFramePr>
          <p:cNvPr id="7" name="TextBox 4">
            <a:extLst>
              <a:ext uri="{FF2B5EF4-FFF2-40B4-BE49-F238E27FC236}">
                <a16:creationId xmlns:a16="http://schemas.microsoft.com/office/drawing/2014/main" id="{75B268F5-1C30-3DBA-4D71-348AA8C79A44}"/>
              </a:ext>
            </a:extLst>
          </p:cNvPr>
          <p:cNvGraphicFramePr/>
          <p:nvPr>
            <p:extLst>
              <p:ext uri="{D42A27DB-BD31-4B8C-83A1-F6EECF244321}">
                <p14:modId xmlns:p14="http://schemas.microsoft.com/office/powerpoint/2010/main" val="2984171722"/>
              </p:ext>
            </p:extLst>
          </p:nvPr>
        </p:nvGraphicFramePr>
        <p:xfrm>
          <a:off x="2013857" y="2449286"/>
          <a:ext cx="9128923" cy="3885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7314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D1CD784D-34B6-2669-C097-DCBC76916A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608" y="613317"/>
            <a:ext cx="4880498" cy="2409360"/>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a:extLst>
              <a:ext uri="{FF2B5EF4-FFF2-40B4-BE49-F238E27FC236}">
                <a16:creationId xmlns:a16="http://schemas.microsoft.com/office/drawing/2014/main" id="{F41213F1-9DD9-F96D-FF41-EE52D56512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0700" y="3524364"/>
            <a:ext cx="4756406" cy="31440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570982B-64EA-307B-17FE-FA53097670B6}"/>
              </a:ext>
            </a:extLst>
          </p:cNvPr>
          <p:cNvSpPr txBox="1"/>
          <p:nvPr/>
        </p:nvSpPr>
        <p:spPr>
          <a:xfrm>
            <a:off x="-368388" y="263279"/>
            <a:ext cx="6094140" cy="538417"/>
          </a:xfrm>
          <a:prstGeom prst="rect">
            <a:avLst/>
          </a:prstGeom>
          <a:noFill/>
        </p:spPr>
        <p:txBody>
          <a:bodyPr wrap="square">
            <a:spAutoFit/>
          </a:bodyPr>
          <a:lstStyle/>
          <a:p>
            <a:pPr algn="r">
              <a:lnSpc>
                <a:spcPct val="90000"/>
              </a:lnSpc>
              <a:spcBef>
                <a:spcPct val="0"/>
              </a:spcBef>
              <a:spcAft>
                <a:spcPts val="600"/>
              </a:spcAft>
            </a:pPr>
            <a:r>
              <a:rPr lang="en-US" sz="3200" b="1" kern="1200" dirty="0">
                <a:solidFill>
                  <a:schemeClr val="bg1"/>
                </a:solidFill>
                <a:latin typeface="+mj-lt"/>
                <a:ea typeface="+mj-ea"/>
                <a:cs typeface="+mj-cs"/>
              </a:rPr>
              <a:t>Exploratory Data Analysis</a:t>
            </a:r>
          </a:p>
        </p:txBody>
      </p:sp>
      <p:sp>
        <p:nvSpPr>
          <p:cNvPr id="5" name="TextBox 4">
            <a:extLst>
              <a:ext uri="{FF2B5EF4-FFF2-40B4-BE49-F238E27FC236}">
                <a16:creationId xmlns:a16="http://schemas.microsoft.com/office/drawing/2014/main" id="{2BFB12B1-5618-ECC3-A40E-2E516E541896}"/>
              </a:ext>
            </a:extLst>
          </p:cNvPr>
          <p:cNvSpPr txBox="1"/>
          <p:nvPr/>
        </p:nvSpPr>
        <p:spPr>
          <a:xfrm>
            <a:off x="944427" y="1817997"/>
            <a:ext cx="5466753" cy="3879460"/>
          </a:xfrm>
          <a:prstGeom prst="rect">
            <a:avLst/>
          </a:prstGeom>
          <a:noFill/>
        </p:spPr>
        <p:txBody>
          <a:bodyPr wrap="square">
            <a:sp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rPr>
              <a:t>We first computed the overall delay rate and found that only a minority of flights are delayed more than 15 minutes.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600" i="0" u="none" strike="noStrike" cap="none" normalizeH="0" baseline="0" dirty="0">
              <a:ln>
                <a:noFill/>
              </a:ln>
              <a:solidFill>
                <a:schemeClr val="bg1"/>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600" i="0" u="none" strike="noStrike" cap="none" normalizeH="0" baseline="0" dirty="0">
              <a:ln>
                <a:noFill/>
              </a:ln>
              <a:solidFill>
                <a:schemeClr val="bg1"/>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rPr>
              <a:t>We calculated the delay rate by airline and observed that some carriers have noticeably higher average delay rates than others.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rPr>
              <a:t>We examined the delay rate by month, which suggests seasonal patterns where certain months show more frequent delays.</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rPr>
              <a:t>These patterns confirm that the data are imbalanced and heterogeneous, supporting our idea that different groups of flights may behave differently.</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rPr>
              <a:t>This EDA motivates our later use of clustering and cluster-specific models instead of relying on a single global model.</a:t>
            </a:r>
          </a:p>
        </p:txBody>
      </p:sp>
      <p:sp>
        <p:nvSpPr>
          <p:cNvPr id="4" name="TextBox 3">
            <a:extLst>
              <a:ext uri="{FF2B5EF4-FFF2-40B4-BE49-F238E27FC236}">
                <a16:creationId xmlns:a16="http://schemas.microsoft.com/office/drawing/2014/main" id="{74B1E967-1783-CEE5-A212-38AB61730836}"/>
              </a:ext>
            </a:extLst>
          </p:cNvPr>
          <p:cNvSpPr txBox="1"/>
          <p:nvPr/>
        </p:nvSpPr>
        <p:spPr>
          <a:xfrm>
            <a:off x="940440" y="2351705"/>
            <a:ext cx="6281056" cy="369332"/>
          </a:xfrm>
          <a:prstGeom prst="rect">
            <a:avLst/>
          </a:prstGeom>
          <a:noFill/>
        </p:spPr>
        <p:txBody>
          <a:bodyPr wrap="square">
            <a:spAutoFit/>
          </a:bodyPr>
          <a:lstStyle/>
          <a:p>
            <a:pPr algn="l" fontAlgn="base" latinLnBrk="1">
              <a:buNone/>
            </a:pPr>
            <a:r>
              <a:rPr lang="en-US" b="0" i="0" dirty="0">
                <a:solidFill>
                  <a:schemeClr val="bg1"/>
                </a:solidFill>
                <a:effectLst/>
                <a:latin typeface="Courier New" panose="02070309020205020404" pitchFamily="49" charset="0"/>
              </a:rPr>
              <a:t>Overall delay rate (ArrDel15=1): 0.195</a:t>
            </a:r>
          </a:p>
        </p:txBody>
      </p:sp>
    </p:spTree>
    <p:extLst>
      <p:ext uri="{BB962C8B-B14F-4D97-AF65-F5344CB8AC3E}">
        <p14:creationId xmlns:p14="http://schemas.microsoft.com/office/powerpoint/2010/main" val="1006961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alpha val="67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2A6D0A-63CC-28F8-A773-DCE946D578D9}"/>
              </a:ext>
            </a:extLst>
          </p:cNvPr>
          <p:cNvSpPr>
            <a:spLocks noGrp="1"/>
          </p:cNvSpPr>
          <p:nvPr>
            <p:ph type="title"/>
          </p:nvPr>
        </p:nvSpPr>
        <p:spPr>
          <a:xfrm>
            <a:off x="406400" y="337935"/>
            <a:ext cx="10515600" cy="1325563"/>
          </a:xfrm>
        </p:spPr>
        <p:txBody>
          <a:bodyPr vert="horz" lIns="91440" tIns="45720" rIns="91440" bIns="45720" rtlCol="0" anchor="ctr">
            <a:normAutofit/>
          </a:bodyPr>
          <a:lstStyle/>
          <a:p>
            <a:r>
              <a:rPr lang="en-US" sz="3200" b="1" kern="1200" dirty="0">
                <a:solidFill>
                  <a:schemeClr val="bg1"/>
                </a:solidFill>
                <a:latin typeface="+mj-lt"/>
                <a:ea typeface="+mj-ea"/>
                <a:cs typeface="+mj-cs"/>
              </a:rPr>
              <a:t>Preprocessing and Data Split</a:t>
            </a:r>
            <a:r>
              <a:rPr lang="en-US" sz="3200" kern="1200" dirty="0">
                <a:solidFill>
                  <a:schemeClr val="bg1"/>
                </a:solidFill>
                <a:latin typeface="+mj-lt"/>
                <a:ea typeface="+mj-ea"/>
                <a:cs typeface="+mj-cs"/>
              </a:rPr>
              <a:t>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C5FA0371-8034-EEFD-AE95-352273345F5C}"/>
              </a:ext>
            </a:extLst>
          </p:cNvPr>
          <p:cNvSpPr>
            <a:spLocks noChangeArrowheads="1"/>
          </p:cNvSpPr>
          <p:nvPr/>
        </p:nvSpPr>
        <p:spPr bwMode="auto">
          <a:xfrm>
            <a:off x="1007364" y="2287221"/>
            <a:ext cx="10515600" cy="42519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lvl="0" indent="-228600" fontAlgn="base">
              <a:lnSpc>
                <a:spcPct val="90000"/>
              </a:lnSpc>
              <a:spcBef>
                <a:spcPct val="0"/>
              </a:spcBef>
              <a:spcAft>
                <a:spcPts val="600"/>
              </a:spcAft>
              <a:buFont typeface="Arial" panose="020B0604020202020204" pitchFamily="34" charset="0"/>
              <a:buChar char="•"/>
            </a:pPr>
            <a:r>
              <a:rPr lang="en-US" sz="1600" dirty="0">
                <a:solidFill>
                  <a:schemeClr val="bg1"/>
                </a:solidFill>
              </a:rPr>
              <a:t>We built a </a:t>
            </a:r>
            <a:r>
              <a:rPr lang="en-US" sz="1600" b="1" dirty="0">
                <a:solidFill>
                  <a:schemeClr val="bg1"/>
                </a:solidFill>
              </a:rPr>
              <a:t>single preprocessing pipeline</a:t>
            </a:r>
            <a:r>
              <a:rPr lang="en-US" sz="1600" dirty="0">
                <a:solidFill>
                  <a:schemeClr val="bg1"/>
                </a:solidFill>
              </a:rPr>
              <a:t> that all models share so they use the same transformed data. For the </a:t>
            </a:r>
            <a:r>
              <a:rPr lang="en-US" sz="1600" b="1" dirty="0">
                <a:solidFill>
                  <a:schemeClr val="bg1"/>
                </a:solidFill>
              </a:rPr>
              <a:t>numeric features</a:t>
            </a:r>
            <a:r>
              <a:rPr lang="en-US" sz="1600" dirty="0">
                <a:solidFill>
                  <a:schemeClr val="bg1"/>
                </a:solidFill>
              </a:rPr>
              <a:t> (Month, </a:t>
            </a:r>
            <a:r>
              <a:rPr lang="en-US" sz="1600" dirty="0" err="1">
                <a:solidFill>
                  <a:schemeClr val="bg1"/>
                </a:solidFill>
              </a:rPr>
              <a:t>DayOfWeek</a:t>
            </a:r>
            <a:r>
              <a:rPr lang="en-US" sz="1600" dirty="0">
                <a:solidFill>
                  <a:schemeClr val="bg1"/>
                </a:solidFill>
              </a:rPr>
              <a:t>,  </a:t>
            </a:r>
            <a:r>
              <a:rPr lang="en-US" sz="1600" dirty="0" err="1">
                <a:solidFill>
                  <a:schemeClr val="bg1"/>
                </a:solidFill>
              </a:rPr>
              <a:t>CRSDepMinutes</a:t>
            </a:r>
            <a:r>
              <a:rPr lang="en-US" sz="1600" dirty="0">
                <a:solidFill>
                  <a:schemeClr val="bg1"/>
                </a:solidFill>
              </a:rPr>
              <a:t>, Distance), we fill missing values with the median and then standardize them. For the </a:t>
            </a:r>
            <a:r>
              <a:rPr lang="en-US" sz="1600" b="1" dirty="0">
                <a:solidFill>
                  <a:schemeClr val="bg1"/>
                </a:solidFill>
              </a:rPr>
              <a:t>categorical features</a:t>
            </a:r>
            <a:r>
              <a:rPr lang="en-US" sz="1600" dirty="0">
                <a:solidFill>
                  <a:schemeClr val="bg1"/>
                </a:solidFill>
              </a:rPr>
              <a:t> (Origin, Destination, marketing airline code), we fill missing values with the most frequent category and apply one-hot encoding so the models can use them as numeric inputs.</a:t>
            </a:r>
          </a:p>
          <a:p>
            <a:pPr lvl="0" indent="-228600" fontAlgn="base">
              <a:lnSpc>
                <a:spcPct val="90000"/>
              </a:lnSpc>
              <a:spcBef>
                <a:spcPct val="0"/>
              </a:spcBef>
              <a:spcAft>
                <a:spcPts val="600"/>
              </a:spcAft>
              <a:buFont typeface="Arial" panose="020B0604020202020204" pitchFamily="34" charset="0"/>
              <a:buChar char="•"/>
            </a:pPr>
            <a:endParaRPr lang="en-US" sz="1600" dirty="0">
              <a:solidFill>
                <a:schemeClr val="bg1"/>
              </a:solidFill>
            </a:endParaRPr>
          </a:p>
          <a:p>
            <a:pPr lvl="0" indent="-228600" fontAlgn="base">
              <a:lnSpc>
                <a:spcPct val="90000"/>
              </a:lnSpc>
              <a:spcBef>
                <a:spcPct val="0"/>
              </a:spcBef>
              <a:spcAft>
                <a:spcPts val="600"/>
              </a:spcAft>
              <a:buFont typeface="Arial" panose="020B0604020202020204" pitchFamily="34" charset="0"/>
              <a:buChar char="•"/>
            </a:pPr>
            <a:r>
              <a:rPr lang="en-US" sz="1600" dirty="0">
                <a:solidFill>
                  <a:schemeClr val="bg1"/>
                </a:solidFill>
              </a:rPr>
              <a:t>After preprocessing, we split the dataset into </a:t>
            </a:r>
            <a:r>
              <a:rPr lang="en-US" sz="1600" b="1" dirty="0">
                <a:solidFill>
                  <a:schemeClr val="bg1"/>
                </a:solidFill>
              </a:rPr>
              <a:t>80% training</a:t>
            </a:r>
            <a:r>
              <a:rPr lang="en-US" sz="1600" dirty="0">
                <a:solidFill>
                  <a:schemeClr val="bg1"/>
                </a:solidFill>
              </a:rPr>
              <a:t> and </a:t>
            </a:r>
            <a:r>
              <a:rPr lang="en-US" sz="1600" b="1" dirty="0">
                <a:solidFill>
                  <a:schemeClr val="bg1"/>
                </a:solidFill>
              </a:rPr>
              <a:t>20% testing</a:t>
            </a:r>
            <a:r>
              <a:rPr lang="en-US" sz="1600" dirty="0">
                <a:solidFill>
                  <a:schemeClr val="bg1"/>
                </a:solidFill>
              </a:rPr>
              <a:t>, using a stratified split so that the proportion of delayed and on-time flights is similar in both sets. Because most flights in the data are on time, the classes are </a:t>
            </a:r>
            <a:r>
              <a:rPr lang="en-US" sz="1600" b="1" dirty="0">
                <a:solidFill>
                  <a:schemeClr val="bg1"/>
                </a:solidFill>
              </a:rPr>
              <a:t>imbalanced</a:t>
            </a:r>
            <a:r>
              <a:rPr lang="en-US" sz="1600" dirty="0">
                <a:solidFill>
                  <a:schemeClr val="bg1"/>
                </a:solidFill>
              </a:rPr>
              <a:t>, In several models (including Random Forest, SVM, and LSTM) we use </a:t>
            </a:r>
            <a:r>
              <a:rPr lang="en-US" sz="1600" dirty="0" err="1">
                <a:solidFill>
                  <a:schemeClr val="bg1"/>
                </a:solidFill>
              </a:rPr>
              <a:t>class_weight</a:t>
            </a:r>
            <a:r>
              <a:rPr lang="en-US" sz="1600" dirty="0">
                <a:solidFill>
                  <a:schemeClr val="bg1"/>
                </a:solidFill>
              </a:rPr>
              <a:t> = 'balanced' or appropriate strategies to handle the class imbalance." to give more weight to delayed flights during training and reduce the tendency of the models to always predict “on time.”</a:t>
            </a:r>
            <a:endParaRPr kumimoji="0" lang="en-US" altLang="en-US" sz="1600" b="0" i="0" u="none" strike="noStrike" cap="none" normalizeH="0" baseline="0" dirty="0">
              <a:ln>
                <a:noFill/>
              </a:ln>
              <a:solidFill>
                <a:schemeClr val="bg1"/>
              </a:solidFill>
              <a:effectLst/>
            </a:endParaRPr>
          </a:p>
        </p:txBody>
      </p:sp>
      <p:sp>
        <p:nvSpPr>
          <p:cNvPr id="6" name="TextBox 5">
            <a:extLst>
              <a:ext uri="{FF2B5EF4-FFF2-40B4-BE49-F238E27FC236}">
                <a16:creationId xmlns:a16="http://schemas.microsoft.com/office/drawing/2014/main" id="{07F0A8A3-A3A0-A933-9E8A-98464DEEC00B}"/>
              </a:ext>
            </a:extLst>
          </p:cNvPr>
          <p:cNvSpPr txBox="1"/>
          <p:nvPr/>
        </p:nvSpPr>
        <p:spPr>
          <a:xfrm>
            <a:off x="3252652" y="5094349"/>
            <a:ext cx="7153148" cy="923330"/>
          </a:xfrm>
          <a:prstGeom prst="rect">
            <a:avLst/>
          </a:prstGeom>
          <a:noFill/>
        </p:spPr>
        <p:txBody>
          <a:bodyPr wrap="square">
            <a:spAutoFit/>
          </a:bodyPr>
          <a:lstStyle/>
          <a:p>
            <a:pPr algn="l" fontAlgn="base" latinLnBrk="1">
              <a:buNone/>
            </a:pPr>
            <a:r>
              <a:rPr lang="en-US" b="0" i="0" dirty="0">
                <a:solidFill>
                  <a:schemeClr val="bg1"/>
                </a:solidFill>
                <a:effectLst/>
                <a:latin typeface="Courier New" panose="02070309020205020404" pitchFamily="49" charset="0"/>
              </a:rPr>
              <a:t>Train size: (120000, 7)  Test size: (30000, 7)</a:t>
            </a:r>
          </a:p>
          <a:p>
            <a:pPr algn="l" fontAlgn="base" latinLnBrk="1">
              <a:buNone/>
            </a:pPr>
            <a:r>
              <a:rPr lang="en-US" b="0" i="0" dirty="0">
                <a:solidFill>
                  <a:schemeClr val="bg1"/>
                </a:solidFill>
                <a:effectLst/>
                <a:latin typeface="Courier New" panose="02070309020205020404" pitchFamily="49" charset="0"/>
              </a:rPr>
              <a:t>Train delay rate: 0.19303333333333333</a:t>
            </a:r>
          </a:p>
          <a:p>
            <a:pPr algn="l" fontAlgn="base" latinLnBrk="1">
              <a:buNone/>
            </a:pPr>
            <a:r>
              <a:rPr lang="en-US" b="0" i="0" dirty="0">
                <a:solidFill>
                  <a:schemeClr val="bg1"/>
                </a:solidFill>
                <a:effectLst/>
                <a:latin typeface="Courier New" panose="02070309020205020404" pitchFamily="49" charset="0"/>
              </a:rPr>
              <a:t>Test delay rate : 0.19303333333333333</a:t>
            </a:r>
          </a:p>
        </p:txBody>
      </p:sp>
    </p:spTree>
    <p:extLst>
      <p:ext uri="{BB962C8B-B14F-4D97-AF65-F5344CB8AC3E}">
        <p14:creationId xmlns:p14="http://schemas.microsoft.com/office/powerpoint/2010/main" val="970131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95ECBB9-5F0D-EA0C-FF96-DCAA65045FBB}"/>
              </a:ext>
            </a:extLst>
          </p:cNvPr>
          <p:cNvPicPr>
            <a:picLocks noChangeAspect="1"/>
          </p:cNvPicPr>
          <p:nvPr/>
        </p:nvPicPr>
        <p:blipFill>
          <a:blip r:embed="rId2">
            <a:alphaModFix amt="35000"/>
          </a:blip>
          <a:srcRect t="26095" b="615"/>
          <a:stretch>
            <a:fillRect/>
          </a:stretch>
        </p:blipFill>
        <p:spPr>
          <a:xfrm>
            <a:off x="20" y="10"/>
            <a:ext cx="12191980" cy="6857990"/>
          </a:xfrm>
          <a:prstGeom prst="rect">
            <a:avLst/>
          </a:prstGeom>
        </p:spPr>
      </p:pic>
      <p:sp>
        <p:nvSpPr>
          <p:cNvPr id="3" name="TextBox 2">
            <a:extLst>
              <a:ext uri="{FF2B5EF4-FFF2-40B4-BE49-F238E27FC236}">
                <a16:creationId xmlns:a16="http://schemas.microsoft.com/office/drawing/2014/main" id="{140C0531-467D-E2DB-7963-FC0C127601D4}"/>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a:solidFill>
                  <a:srgbClr val="FFFFFF"/>
                </a:solidFill>
                <a:latin typeface="+mj-lt"/>
                <a:ea typeface="+mj-ea"/>
                <a:cs typeface="+mj-cs"/>
              </a:rPr>
              <a:t>Global Baseline Models </a:t>
            </a:r>
          </a:p>
        </p:txBody>
      </p:sp>
      <p:graphicFrame>
        <p:nvGraphicFramePr>
          <p:cNvPr id="9" name="TextBox 4">
            <a:extLst>
              <a:ext uri="{FF2B5EF4-FFF2-40B4-BE49-F238E27FC236}">
                <a16:creationId xmlns:a16="http://schemas.microsoft.com/office/drawing/2014/main" id="{DF44409F-ADE0-5272-930A-A1D2073CDBC5}"/>
              </a:ext>
            </a:extLst>
          </p:cNvPr>
          <p:cNvGraphicFramePr/>
          <p:nvPr>
            <p:extLst>
              <p:ext uri="{D42A27DB-BD31-4B8C-83A1-F6EECF244321}">
                <p14:modId xmlns:p14="http://schemas.microsoft.com/office/powerpoint/2010/main" val="369644177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3462929"/>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BF3542-7DD3-1BCF-C866-326C664F0B18}"/>
              </a:ext>
            </a:extLst>
          </p:cNvPr>
          <p:cNvSpPr txBox="1"/>
          <p:nvPr/>
        </p:nvSpPr>
        <p:spPr>
          <a:xfrm>
            <a:off x="2642572" y="707432"/>
            <a:ext cx="7293429" cy="584775"/>
          </a:xfrm>
          <a:prstGeom prst="rect">
            <a:avLst/>
          </a:prstGeom>
          <a:noFill/>
        </p:spPr>
        <p:txBody>
          <a:bodyPr wrap="square">
            <a:spAutoFit/>
          </a:bodyPr>
          <a:lstStyle/>
          <a:p>
            <a:r>
              <a:rPr lang="en-US" sz="3200" b="1">
                <a:solidFill>
                  <a:schemeClr val="bg1"/>
                </a:solidFill>
              </a:rPr>
              <a:t>Cluster-Specific Ensemble (CSE)</a:t>
            </a:r>
            <a:endParaRPr lang="en-US" sz="3200" b="1" dirty="0">
              <a:solidFill>
                <a:schemeClr val="bg1"/>
              </a:solidFill>
            </a:endParaRPr>
          </a:p>
        </p:txBody>
      </p:sp>
      <p:sp>
        <p:nvSpPr>
          <p:cNvPr id="4" name="Rectangle 1">
            <a:extLst>
              <a:ext uri="{FF2B5EF4-FFF2-40B4-BE49-F238E27FC236}">
                <a16:creationId xmlns:a16="http://schemas.microsoft.com/office/drawing/2014/main" id="{2FA73890-0CE1-68E4-BC4F-3BB03934B7BE}"/>
              </a:ext>
            </a:extLst>
          </p:cNvPr>
          <p:cNvSpPr>
            <a:spLocks noChangeArrowheads="1"/>
          </p:cNvSpPr>
          <p:nvPr/>
        </p:nvSpPr>
        <p:spPr bwMode="auto">
          <a:xfrm>
            <a:off x="1486163" y="2313818"/>
            <a:ext cx="1000915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bg1"/>
                </a:solidFill>
                <a:effectLst/>
                <a:latin typeface="Arial" panose="020B0604020202020204" pitchFamily="34" charset="0"/>
              </a:rPr>
              <a:t>We observed that delay patterns vary by route, airline, season, and time of day, so a single global model may not capture all of this heterogeneity.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bg1"/>
                </a:solidFill>
                <a:effectLst/>
                <a:latin typeface="Arial" panose="020B0604020202020204" pitchFamily="34" charset="0"/>
              </a:rPr>
              <a:t>To group similar flights, we use numeric pre-departure features for clustering: Month, </a:t>
            </a:r>
            <a:r>
              <a:rPr kumimoji="0" lang="en-US" altLang="en-US" sz="1600" i="0" u="none" strike="noStrike" cap="none" normalizeH="0" baseline="0" dirty="0" err="1">
                <a:ln>
                  <a:noFill/>
                </a:ln>
                <a:solidFill>
                  <a:schemeClr val="bg1"/>
                </a:solidFill>
                <a:effectLst/>
                <a:latin typeface="Arial" panose="020B0604020202020204" pitchFamily="34" charset="0"/>
              </a:rPr>
              <a:t>DayOfWeek</a:t>
            </a:r>
            <a:r>
              <a:rPr kumimoji="0" lang="en-US" altLang="en-US" sz="1600" i="0" u="none" strike="noStrike" cap="none" normalizeH="0" baseline="0" dirty="0">
                <a:ln>
                  <a:noFill/>
                </a:ln>
                <a:solidFill>
                  <a:schemeClr val="bg1"/>
                </a:solidFill>
                <a:effectLst/>
                <a:latin typeface="Arial" panose="020B0604020202020204" pitchFamily="34" charset="0"/>
              </a:rPr>
              <a:t>, </a:t>
            </a:r>
            <a:r>
              <a:rPr kumimoji="0" lang="en-US" altLang="en-US" sz="1600" i="0" u="none" strike="noStrike" cap="none" normalizeH="0" baseline="0" dirty="0" err="1">
                <a:ln>
                  <a:noFill/>
                </a:ln>
                <a:solidFill>
                  <a:schemeClr val="bg1"/>
                </a:solidFill>
                <a:effectLst/>
                <a:latin typeface="Arial" panose="020B0604020202020204" pitchFamily="34" charset="0"/>
              </a:rPr>
              <a:t>CRSDepMinutes</a:t>
            </a:r>
            <a:r>
              <a:rPr kumimoji="0" lang="en-US" altLang="en-US" sz="1600" i="0" u="none" strike="noStrike" cap="none" normalizeH="0" baseline="0" dirty="0">
                <a:ln>
                  <a:noFill/>
                </a:ln>
                <a:solidFill>
                  <a:schemeClr val="bg1"/>
                </a:solidFill>
                <a:effectLst/>
                <a:latin typeface="Arial" panose="020B0604020202020204" pitchFamily="34" charset="0"/>
              </a:rPr>
              <a:t> (departure time in minutes), and Distance.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bg1"/>
                </a:solidFill>
                <a:effectLst/>
                <a:latin typeface="Arial" panose="020B0604020202020204" pitchFamily="34" charset="0"/>
              </a:rPr>
              <a:t>We standardize these features and apply k-means clustering with K = 4, assigning each flight to one of four clusters based on its time and distance profile.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bg1"/>
                </a:solidFill>
                <a:effectLst/>
                <a:latin typeface="Arial" panose="020B0604020202020204" pitchFamily="34" charset="0"/>
              </a:rPr>
              <a:t>For each cluster, we train a separate Random Forest classifier using only the flights belonging to that cluster.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bg1"/>
                </a:solidFill>
                <a:effectLst/>
                <a:latin typeface="Arial" panose="020B0604020202020204" pitchFamily="34" charset="0"/>
              </a:rPr>
              <a:t>At prediction time, we assign a test flight to a cluster with k-means and then use that cluster’s Random Forest to predict whether the flight will be delayed, forming our Cluster-Specific Ensemble (CSE).</a:t>
            </a:r>
          </a:p>
        </p:txBody>
      </p:sp>
    </p:spTree>
    <p:extLst>
      <p:ext uri="{BB962C8B-B14F-4D97-AF65-F5344CB8AC3E}">
        <p14:creationId xmlns:p14="http://schemas.microsoft.com/office/powerpoint/2010/main" val="2563227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1EF56-0D97-222C-1BDB-094CECBACB52}"/>
              </a:ext>
            </a:extLst>
          </p:cNvPr>
          <p:cNvSpPr>
            <a:spLocks noGrp="1"/>
          </p:cNvSpPr>
          <p:nvPr>
            <p:ph type="title"/>
          </p:nvPr>
        </p:nvSpPr>
        <p:spPr>
          <a:xfrm>
            <a:off x="185059" y="2679132"/>
            <a:ext cx="3363686" cy="1141753"/>
          </a:xfrm>
        </p:spPr>
        <p:txBody>
          <a:bodyPr>
            <a:normAutofit/>
          </a:bodyPr>
          <a:lstStyle/>
          <a:p>
            <a:r>
              <a:rPr lang="en-US" sz="3200" b="1" dirty="0">
                <a:solidFill>
                  <a:schemeClr val="bg1"/>
                </a:solidFill>
              </a:rPr>
              <a:t>Evaluation Setup and Metrics</a:t>
            </a:r>
          </a:p>
        </p:txBody>
      </p:sp>
      <p:sp>
        <p:nvSpPr>
          <p:cNvPr id="3" name="Rectangle 1">
            <a:extLst>
              <a:ext uri="{FF2B5EF4-FFF2-40B4-BE49-F238E27FC236}">
                <a16:creationId xmlns:a16="http://schemas.microsoft.com/office/drawing/2014/main" id="{00730243-D372-46F1-DBFD-658E19DC56F7}"/>
              </a:ext>
            </a:extLst>
          </p:cNvPr>
          <p:cNvSpPr>
            <a:spLocks noChangeArrowheads="1"/>
          </p:cNvSpPr>
          <p:nvPr/>
        </p:nvSpPr>
        <p:spPr bwMode="auto">
          <a:xfrm>
            <a:off x="3570516" y="762426"/>
            <a:ext cx="8458198"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endParaRPr lang="en-US" sz="1600" b="1" dirty="0">
              <a:solidFill>
                <a:schemeClr val="bg1"/>
              </a:solidFill>
            </a:endParaRPr>
          </a:p>
          <a:p>
            <a:pPr marL="285750" indent="-285750">
              <a:buFont typeface="Arial" panose="020B0604020202020204" pitchFamily="34" charset="0"/>
              <a:buChar char="•"/>
            </a:pPr>
            <a:r>
              <a:rPr lang="en-US" sz="1600" dirty="0">
                <a:solidFill>
                  <a:schemeClr val="bg1"/>
                </a:solidFill>
              </a:rPr>
              <a:t>We evaluate all models on a held-out test set that was never used during training, using an 80%–20% stratified train–test split so the ratio of delayed vs on-time flights is similar in both sets.</a:t>
            </a:r>
          </a:p>
          <a:p>
            <a:endParaRPr lang="en-US" sz="1600" b="1" dirty="0">
              <a:solidFill>
                <a:schemeClr val="bg1"/>
              </a:solidFill>
            </a:endParaRPr>
          </a:p>
          <a:p>
            <a:pPr marL="285750" indent="-285750">
              <a:buFont typeface="Arial" panose="020B0604020202020204" pitchFamily="34" charset="0"/>
              <a:buChar char="•"/>
            </a:pPr>
            <a:r>
              <a:rPr lang="en-US" sz="1600" dirty="0">
                <a:solidFill>
                  <a:schemeClr val="bg1"/>
                </a:solidFill>
              </a:rPr>
              <a:t>Accuracy measures the overall fraction of flights that are correctly classified as on time or delayed.</a:t>
            </a:r>
          </a:p>
          <a:p>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Precision tells us what fraction of flights predicted as delayed are actually delayed, while recall tells us what fraction of truly delayed flights the model successfully detects.</a:t>
            </a:r>
          </a:p>
          <a:p>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The F1 score is the harmonic mean of precision and recall, summarizing their trade-off and being especially useful for our imbalanced dataset.</a:t>
            </a:r>
          </a:p>
          <a:p>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ROC–AUC measures how well the model separates delayed and on-time flights across all possible decision thresholds.</a:t>
            </a:r>
          </a:p>
          <a:p>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For key models (Random Forest and CSE), we also look at confusion matrices to see how many flights fall into the true positive, true negative, false positive, and false negative categories.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2743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04FA6-60D8-D6F9-D131-DA36BBBAFB69}"/>
              </a:ext>
            </a:extLst>
          </p:cNvPr>
          <p:cNvSpPr>
            <a:spLocks noGrp="1"/>
          </p:cNvSpPr>
          <p:nvPr>
            <p:ph type="title"/>
          </p:nvPr>
        </p:nvSpPr>
        <p:spPr>
          <a:xfrm>
            <a:off x="3082245" y="144860"/>
            <a:ext cx="10515600" cy="823912"/>
          </a:xfrm>
        </p:spPr>
        <p:txBody>
          <a:bodyPr>
            <a:normAutofit/>
          </a:bodyPr>
          <a:lstStyle/>
          <a:p>
            <a:r>
              <a:rPr lang="en-US" sz="3200" b="1" dirty="0">
                <a:solidFill>
                  <a:schemeClr val="bg1"/>
                </a:solidFill>
              </a:rPr>
              <a:t>Results :- Global Models vs CSE</a:t>
            </a:r>
          </a:p>
        </p:txBody>
      </p:sp>
      <p:sp>
        <p:nvSpPr>
          <p:cNvPr id="3" name="Text Placeholder 2">
            <a:extLst>
              <a:ext uri="{FF2B5EF4-FFF2-40B4-BE49-F238E27FC236}">
                <a16:creationId xmlns:a16="http://schemas.microsoft.com/office/drawing/2014/main" id="{83DD0C21-C366-184F-C71B-5E99D8FAD1B5}"/>
              </a:ext>
            </a:extLst>
          </p:cNvPr>
          <p:cNvSpPr>
            <a:spLocks noGrp="1"/>
          </p:cNvSpPr>
          <p:nvPr>
            <p:ph type="body" idx="1"/>
          </p:nvPr>
        </p:nvSpPr>
        <p:spPr>
          <a:xfrm>
            <a:off x="1939245" y="556816"/>
            <a:ext cx="5157787" cy="823912"/>
          </a:xfrm>
        </p:spPr>
        <p:txBody>
          <a:bodyPr/>
          <a:lstStyle/>
          <a:p>
            <a:r>
              <a:rPr lang="en-US" dirty="0">
                <a:solidFill>
                  <a:schemeClr val="bg1"/>
                </a:solidFill>
              </a:rPr>
              <a:t>Global Best Model </a:t>
            </a:r>
          </a:p>
        </p:txBody>
      </p:sp>
      <p:sp>
        <p:nvSpPr>
          <p:cNvPr id="5" name="Text Placeholder 4">
            <a:extLst>
              <a:ext uri="{FF2B5EF4-FFF2-40B4-BE49-F238E27FC236}">
                <a16:creationId xmlns:a16="http://schemas.microsoft.com/office/drawing/2014/main" id="{223A284C-CE28-9080-FC29-D3AF7C38BACA}"/>
              </a:ext>
            </a:extLst>
          </p:cNvPr>
          <p:cNvSpPr>
            <a:spLocks noGrp="1"/>
          </p:cNvSpPr>
          <p:nvPr>
            <p:ph type="body" sz="quarter" idx="3"/>
          </p:nvPr>
        </p:nvSpPr>
        <p:spPr>
          <a:xfrm>
            <a:off x="6433457" y="556816"/>
            <a:ext cx="5183188" cy="823912"/>
          </a:xfrm>
        </p:spPr>
        <p:txBody>
          <a:bodyPr/>
          <a:lstStyle/>
          <a:p>
            <a:r>
              <a:rPr lang="en-US" dirty="0">
                <a:solidFill>
                  <a:schemeClr val="bg1"/>
                </a:solidFill>
              </a:rPr>
              <a:t>Cluster-Specific Ensemble</a:t>
            </a:r>
          </a:p>
        </p:txBody>
      </p:sp>
      <p:graphicFrame>
        <p:nvGraphicFramePr>
          <p:cNvPr id="10" name="Rectangle 1">
            <a:extLst>
              <a:ext uri="{FF2B5EF4-FFF2-40B4-BE49-F238E27FC236}">
                <a16:creationId xmlns:a16="http://schemas.microsoft.com/office/drawing/2014/main" id="{29C5E412-9930-7C3D-6164-BD8626CB80F4}"/>
              </a:ext>
            </a:extLst>
          </p:cNvPr>
          <p:cNvGraphicFramePr>
            <a:graphicFrameLocks noGrp="1"/>
          </p:cNvGraphicFramePr>
          <p:nvPr>
            <p:ph sz="half" idx="2"/>
            <p:extLst>
              <p:ext uri="{D42A27DB-BD31-4B8C-83A1-F6EECF244321}">
                <p14:modId xmlns:p14="http://schemas.microsoft.com/office/powerpoint/2010/main" val="325526419"/>
              </p:ext>
            </p:extLst>
          </p:nvPr>
        </p:nvGraphicFramePr>
        <p:xfrm>
          <a:off x="480560" y="1375058"/>
          <a:ext cx="5767840" cy="5338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1">
            <a:extLst>
              <a:ext uri="{FF2B5EF4-FFF2-40B4-BE49-F238E27FC236}">
                <a16:creationId xmlns:a16="http://schemas.microsoft.com/office/drawing/2014/main" id="{51624329-98F5-559A-FB6F-A377F8A4392A}"/>
              </a:ext>
            </a:extLst>
          </p:cNvPr>
          <p:cNvSpPr>
            <a:spLocks noGrp="1" noChangeArrowheads="1"/>
          </p:cNvSpPr>
          <p:nvPr>
            <p:ph sz="quarter" idx="4"/>
          </p:nvPr>
        </p:nvSpPr>
        <p:spPr bwMode="auto">
          <a:xfrm>
            <a:off x="6433457" y="1677194"/>
            <a:ext cx="5593668"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 Cluster-Specific Ensemble (CSE) clusters flights with k-means and trains a separate Random Forest in each cluster.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On the test set, the CSE achieves </a:t>
            </a:r>
            <a:r>
              <a:rPr kumimoji="0" lang="en-US" altLang="en-US" sz="1600" b="1" i="0" u="none" strike="noStrike" cap="none" normalizeH="0" baseline="0" dirty="0">
                <a:ln>
                  <a:noFill/>
                </a:ln>
                <a:solidFill>
                  <a:schemeClr val="bg1"/>
                </a:solidFill>
                <a:effectLst/>
                <a:latin typeface="Arial" panose="020B0604020202020204" pitchFamily="34" charset="0"/>
              </a:rPr>
              <a:t>accuracy, F1 score, and ROC–AUC very close</a:t>
            </a:r>
            <a:r>
              <a:rPr kumimoji="0" lang="en-US" altLang="en-US" sz="1600" b="0" i="0" u="none" strike="noStrike" cap="none" normalizeH="0" baseline="0" dirty="0">
                <a:ln>
                  <a:noFill/>
                </a:ln>
                <a:solidFill>
                  <a:schemeClr val="bg1"/>
                </a:solidFill>
                <a:effectLst/>
                <a:latin typeface="Arial" panose="020B0604020202020204" pitchFamily="34" charset="0"/>
              </a:rPr>
              <a:t> to the global Random Forest.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It does </a:t>
            </a:r>
            <a:r>
              <a:rPr kumimoji="0" lang="en-US" altLang="en-US" sz="1600" b="1" i="0" u="none" strike="noStrike" cap="none" normalizeH="0" baseline="0" dirty="0">
                <a:ln>
                  <a:noFill/>
                </a:ln>
                <a:solidFill>
                  <a:schemeClr val="bg1"/>
                </a:solidFill>
                <a:effectLst/>
                <a:latin typeface="Arial" panose="020B0604020202020204" pitchFamily="34" charset="0"/>
              </a:rPr>
              <a:t>not significantly outperform</a:t>
            </a:r>
            <a:r>
              <a:rPr kumimoji="0" lang="en-US" altLang="en-US" sz="1600" b="0" i="0" u="none" strike="noStrike" cap="none" normalizeH="0" baseline="0" dirty="0">
                <a:ln>
                  <a:noFill/>
                </a:ln>
                <a:solidFill>
                  <a:schemeClr val="bg1"/>
                </a:solidFill>
                <a:effectLst/>
                <a:latin typeface="Arial" panose="020B0604020202020204" pitchFamily="34" charset="0"/>
              </a:rPr>
              <a:t> the global Random Forest, suggesting that clustering only on time and distance is not enough to create much easier subproblems.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However, CSE shows that </a:t>
            </a:r>
            <a:r>
              <a:rPr kumimoji="0" lang="en-US" altLang="en-US" sz="1600" b="1" i="0" u="none" strike="noStrike" cap="none" normalizeH="0" baseline="0" dirty="0">
                <a:ln>
                  <a:noFill/>
                </a:ln>
                <a:solidFill>
                  <a:schemeClr val="bg1"/>
                </a:solidFill>
                <a:effectLst/>
                <a:latin typeface="Arial" panose="020B0604020202020204" pitchFamily="34" charset="0"/>
              </a:rPr>
              <a:t>cluster-specific models can match a strong global model</a:t>
            </a:r>
            <a:r>
              <a:rPr kumimoji="0" lang="en-US" altLang="en-US" sz="1600" b="0" i="0" u="none" strike="noStrike" cap="none" normalizeH="0" baseline="0" dirty="0">
                <a:ln>
                  <a:noFill/>
                </a:ln>
                <a:solidFill>
                  <a:schemeClr val="bg1"/>
                </a:solidFill>
                <a:effectLst/>
                <a:latin typeface="Arial" panose="020B0604020202020204" pitchFamily="34" charset="0"/>
              </a:rPr>
              <a:t> and could benefit from richer features like weather or congestion in future work.</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solidFill>
                <a:schemeClr val="bg1"/>
              </a:solidFill>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sz="1600" dirty="0">
                <a:solidFill>
                  <a:schemeClr val="bg1"/>
                </a:solidFill>
              </a:rPr>
              <a:t>We also include an LSTM model in the comparison; it achieves high overall accuracy due to the class imbalance but has very low recall and F1, meaning it rarely flags delayed flights</a:t>
            </a:r>
            <a:endParaRPr kumimoji="0" lang="en-US" altLang="en-US" sz="16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4281351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A41CA44-92CD-25DC-E164-4AEF16634D34}"/>
              </a:ext>
            </a:extLst>
          </p:cNvPr>
          <p:cNvSpPr>
            <a:spLocks noChangeArrowheads="1"/>
          </p:cNvSpPr>
          <p:nvPr/>
        </p:nvSpPr>
        <p:spPr bwMode="auto">
          <a:xfrm>
            <a:off x="4398359" y="932420"/>
            <a:ext cx="388311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Arial" panose="020B0604020202020204" pitchFamily="34" charset="0"/>
              </a:rPr>
              <a:t>Test Set Metrics for All Models</a:t>
            </a: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813CA167-4A37-A111-22A4-8AAA16A4B651}"/>
              </a:ext>
            </a:extLst>
          </p:cNvPr>
          <p:cNvPicPr>
            <a:picLocks noChangeAspect="1"/>
          </p:cNvPicPr>
          <p:nvPr/>
        </p:nvPicPr>
        <p:blipFill>
          <a:blip r:embed="rId3"/>
          <a:stretch>
            <a:fillRect/>
          </a:stretch>
        </p:blipFill>
        <p:spPr>
          <a:xfrm>
            <a:off x="2632296" y="1852921"/>
            <a:ext cx="7362938" cy="3254337"/>
          </a:xfrm>
          <a:prstGeom prst="rect">
            <a:avLst/>
          </a:prstGeom>
        </p:spPr>
      </p:pic>
    </p:spTree>
    <p:extLst>
      <p:ext uri="{BB962C8B-B14F-4D97-AF65-F5344CB8AC3E}">
        <p14:creationId xmlns:p14="http://schemas.microsoft.com/office/powerpoint/2010/main" val="2491617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20A0-9669-565C-0869-1A6160E0FCC8}"/>
              </a:ext>
            </a:extLst>
          </p:cNvPr>
          <p:cNvSpPr>
            <a:spLocks noGrp="1"/>
          </p:cNvSpPr>
          <p:nvPr>
            <p:ph type="title"/>
          </p:nvPr>
        </p:nvSpPr>
        <p:spPr>
          <a:xfrm>
            <a:off x="838200" y="86661"/>
            <a:ext cx="10515600" cy="1325563"/>
          </a:xfrm>
        </p:spPr>
        <p:txBody>
          <a:bodyPr>
            <a:normAutofit/>
          </a:bodyPr>
          <a:lstStyle/>
          <a:p>
            <a:r>
              <a:rPr lang="en-US" sz="3200" dirty="0">
                <a:solidFill>
                  <a:schemeClr val="bg1"/>
                </a:solidFill>
              </a:rPr>
              <a:t>LSTM Model</a:t>
            </a:r>
          </a:p>
        </p:txBody>
      </p:sp>
      <p:sp>
        <p:nvSpPr>
          <p:cNvPr id="4" name="Rectangle 2">
            <a:extLst>
              <a:ext uri="{FF2B5EF4-FFF2-40B4-BE49-F238E27FC236}">
                <a16:creationId xmlns:a16="http://schemas.microsoft.com/office/drawing/2014/main" id="{E6C997D8-0F6B-5624-BCFE-A2FA58FB19C2}"/>
              </a:ext>
            </a:extLst>
          </p:cNvPr>
          <p:cNvSpPr>
            <a:spLocks noChangeArrowheads="1"/>
          </p:cNvSpPr>
          <p:nvPr/>
        </p:nvSpPr>
        <p:spPr bwMode="auto">
          <a:xfrm>
            <a:off x="2076780" y="1085653"/>
            <a:ext cx="825615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We trained a </a:t>
            </a:r>
            <a:r>
              <a:rPr kumimoji="0" lang="en-US" altLang="en-US" sz="1600" b="1" i="0" u="none" strike="noStrike" cap="none" normalizeH="0" baseline="0" dirty="0">
                <a:ln>
                  <a:noFill/>
                </a:ln>
                <a:solidFill>
                  <a:schemeClr val="bg1"/>
                </a:solidFill>
                <a:effectLst/>
                <a:latin typeface="Arial" panose="020B0604020202020204" pitchFamily="34" charset="0"/>
              </a:rPr>
              <a:t>simple LSTM neural network</a:t>
            </a:r>
            <a:r>
              <a:rPr kumimoji="0" lang="en-US" altLang="en-US" sz="1600" b="0" i="0" u="none" strike="noStrike" cap="none" normalizeH="0" baseline="0" dirty="0">
                <a:ln>
                  <a:noFill/>
                </a:ln>
                <a:solidFill>
                  <a:schemeClr val="bg1"/>
                </a:solidFill>
                <a:effectLst/>
                <a:latin typeface="Arial" panose="020B0604020202020204" pitchFamily="34" charset="0"/>
              </a:rPr>
              <a:t> on the same pre-departure features: Month, </a:t>
            </a:r>
            <a:r>
              <a:rPr kumimoji="0" lang="en-US" altLang="en-US" sz="1600" b="0" i="0" u="none" strike="noStrike" cap="none" normalizeH="0" baseline="0" dirty="0" err="1">
                <a:ln>
                  <a:noFill/>
                </a:ln>
                <a:solidFill>
                  <a:schemeClr val="bg1"/>
                </a:solidFill>
                <a:effectLst/>
                <a:latin typeface="Arial" panose="020B0604020202020204" pitchFamily="34" charset="0"/>
              </a:rPr>
              <a:t>DayOfWeek</a:t>
            </a:r>
            <a:r>
              <a:rPr kumimoji="0" lang="en-US" altLang="en-US" sz="1600" b="0" i="0" u="none" strike="noStrike" cap="none" normalizeH="0" baseline="0" dirty="0">
                <a:ln>
                  <a:noFill/>
                </a:ln>
                <a:solidFill>
                  <a:schemeClr val="bg1"/>
                </a:solidFill>
                <a:effectLst/>
                <a:latin typeface="Arial" panose="020B0604020202020204" pitchFamily="34" charset="0"/>
              </a:rPr>
              <a:t>, </a:t>
            </a:r>
            <a:r>
              <a:rPr kumimoji="0" lang="en-US" altLang="en-US" sz="1600" b="0" i="0" u="none" strike="noStrike" cap="none" normalizeH="0" baseline="0" dirty="0" err="1">
                <a:ln>
                  <a:noFill/>
                </a:ln>
                <a:solidFill>
                  <a:schemeClr val="bg1"/>
                </a:solidFill>
                <a:effectLst/>
                <a:latin typeface="Arial" panose="020B0604020202020204" pitchFamily="34" charset="0"/>
              </a:rPr>
              <a:t>CRSDepMinutes</a:t>
            </a:r>
            <a:r>
              <a:rPr kumimoji="0" lang="en-US" altLang="en-US" sz="1600" b="0" i="0" u="none" strike="noStrike" cap="none" normalizeH="0" baseline="0" dirty="0">
                <a:ln>
                  <a:noFill/>
                </a:ln>
                <a:solidFill>
                  <a:schemeClr val="bg1"/>
                </a:solidFill>
                <a:effectLst/>
                <a:latin typeface="Arial" panose="020B0604020202020204" pitchFamily="34" charset="0"/>
              </a:rPr>
              <a:t> (time), Distance, Origin, Destination, and marketing airline.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 </a:t>
            </a:r>
            <a:r>
              <a:rPr kumimoji="0" lang="en-US" altLang="en-US" sz="1600" b="1" i="0" u="none" strike="noStrike" cap="none" normalizeH="0" baseline="0" dirty="0">
                <a:ln>
                  <a:noFill/>
                </a:ln>
                <a:solidFill>
                  <a:schemeClr val="bg1"/>
                </a:solidFill>
                <a:effectLst/>
                <a:latin typeface="Arial" panose="020B0604020202020204" pitchFamily="34" charset="0"/>
              </a:rPr>
              <a:t>input preprocessing</a:t>
            </a:r>
            <a:r>
              <a:rPr kumimoji="0" lang="en-US" altLang="en-US" sz="1600" b="0" i="0" u="none" strike="noStrike" cap="none" normalizeH="0" baseline="0" dirty="0">
                <a:ln>
                  <a:noFill/>
                </a:ln>
                <a:solidFill>
                  <a:schemeClr val="bg1"/>
                </a:solidFill>
                <a:effectLst/>
                <a:latin typeface="Arial" panose="020B0604020202020204" pitchFamily="34" charset="0"/>
              </a:rPr>
              <a:t> is identical to our other models (median imputation for numeric features, scaling, most-frequent imputation + one-hot encoding for categorical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After preprocessing, we </a:t>
            </a:r>
            <a:r>
              <a:rPr kumimoji="0" lang="en-US" altLang="en-US" sz="1600" b="1" i="0" u="none" strike="noStrike" cap="none" normalizeH="0" baseline="0" dirty="0">
                <a:ln>
                  <a:noFill/>
                </a:ln>
                <a:solidFill>
                  <a:schemeClr val="bg1"/>
                </a:solidFill>
                <a:effectLst/>
                <a:latin typeface="Arial" panose="020B0604020202020204" pitchFamily="34" charset="0"/>
              </a:rPr>
              <a:t>convert the feature matrix to a dense array</a:t>
            </a:r>
            <a:r>
              <a:rPr kumimoji="0" lang="en-US" altLang="en-US" sz="1600" b="0" i="0" u="none" strike="noStrike" cap="none" normalizeH="0" baseline="0" dirty="0">
                <a:ln>
                  <a:noFill/>
                </a:ln>
                <a:solidFill>
                  <a:schemeClr val="bg1"/>
                </a:solidFill>
                <a:effectLst/>
                <a:latin typeface="Arial" panose="020B0604020202020204" pitchFamily="34" charset="0"/>
              </a:rPr>
              <a:t> and reshape each flight as a 1-step sequence so it can be fed into an LSTM layer.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 architecture is small: one LSTM layer with 32 units, a hidden Dense layer with 16 units (</a:t>
            </a:r>
            <a:r>
              <a:rPr kumimoji="0" lang="en-US" altLang="en-US" sz="1600" b="0" i="0" u="none" strike="noStrike" cap="none" normalizeH="0" baseline="0" dirty="0" err="1">
                <a:ln>
                  <a:noFill/>
                </a:ln>
                <a:solidFill>
                  <a:schemeClr val="bg1"/>
                </a:solidFill>
                <a:effectLst/>
                <a:latin typeface="Arial" panose="020B0604020202020204" pitchFamily="34" charset="0"/>
              </a:rPr>
              <a:t>ReLU</a:t>
            </a:r>
            <a:r>
              <a:rPr kumimoji="0" lang="en-US" altLang="en-US" sz="1600" b="0" i="0" u="none" strike="noStrike" cap="none" normalizeH="0" baseline="0" dirty="0">
                <a:ln>
                  <a:noFill/>
                </a:ln>
                <a:solidFill>
                  <a:schemeClr val="bg1"/>
                </a:solidFill>
                <a:effectLst/>
                <a:latin typeface="Arial" panose="020B0604020202020204" pitchFamily="34" charset="0"/>
              </a:rPr>
              <a:t>), and a final sigmoid output for binary classification.</a:t>
            </a:r>
          </a:p>
        </p:txBody>
      </p:sp>
      <p:sp>
        <p:nvSpPr>
          <p:cNvPr id="5" name="Rectangle 3">
            <a:extLst>
              <a:ext uri="{FF2B5EF4-FFF2-40B4-BE49-F238E27FC236}">
                <a16:creationId xmlns:a16="http://schemas.microsoft.com/office/drawing/2014/main" id="{090D7D13-9371-A802-D2E4-153E0F92EB2A}"/>
              </a:ext>
            </a:extLst>
          </p:cNvPr>
          <p:cNvSpPr>
            <a:spLocks noChangeArrowheads="1"/>
          </p:cNvSpPr>
          <p:nvPr/>
        </p:nvSpPr>
        <p:spPr bwMode="auto">
          <a:xfrm>
            <a:off x="2212190" y="4542929"/>
            <a:ext cx="841917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On the held-out test set, the LSTM achieved approximately: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Arial" panose="020B0604020202020204" pitchFamily="34" charset="0"/>
              </a:rPr>
              <a:t>Accuracy ≈ 0.81</a:t>
            </a: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Arial" panose="020B0604020202020204" pitchFamily="34" charset="0"/>
              </a:rPr>
              <a:t>ROC–AUC ≈ 0.65</a:t>
            </a: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bg1"/>
                </a:solidFill>
                <a:effectLst/>
                <a:latin typeface="Arial" panose="020B0604020202020204" pitchFamily="34" charset="0"/>
              </a:rPr>
              <a:t>Recall ≈ 0.02</a:t>
            </a:r>
            <a:r>
              <a:rPr kumimoji="0" lang="en-US" altLang="en-US" sz="1600" b="0" i="0" u="none" strike="noStrike" cap="none" normalizeH="0" baseline="0" dirty="0">
                <a:ln>
                  <a:noFill/>
                </a:ln>
                <a:solidFill>
                  <a:schemeClr val="bg1"/>
                </a:solidFill>
                <a:effectLst/>
                <a:latin typeface="Arial" panose="020B0604020202020204" pitchFamily="34" charset="0"/>
              </a:rPr>
              <a:t> and </a:t>
            </a:r>
            <a:r>
              <a:rPr kumimoji="0" lang="en-US" altLang="en-US" sz="1600" b="1" i="0" u="none" strike="noStrike" cap="none" normalizeH="0" baseline="0" dirty="0">
                <a:ln>
                  <a:noFill/>
                </a:ln>
                <a:solidFill>
                  <a:schemeClr val="bg1"/>
                </a:solidFill>
                <a:effectLst/>
                <a:latin typeface="Arial" panose="020B0604020202020204" pitchFamily="34" charset="0"/>
              </a:rPr>
              <a:t>F1 ≈ 0.03</a:t>
            </a:r>
            <a:r>
              <a:rPr kumimoji="0" lang="en-US" altLang="en-US" sz="1600" b="0" i="0" u="none" strike="noStrike" cap="none" normalizeH="0" baseline="0" dirty="0">
                <a:ln>
                  <a:noFill/>
                </a:ln>
                <a:solidFill>
                  <a:schemeClr val="bg1"/>
                </a:solidFill>
                <a:effectLst/>
                <a:latin typeface="Arial" panose="020B0604020202020204" pitchFamily="34" charset="0"/>
              </a:rPr>
              <a:t> for the delayed class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These numbers mean the LSTM has </a:t>
            </a:r>
            <a:r>
              <a:rPr kumimoji="0" lang="en-US" altLang="en-US" sz="1600" b="1" i="0" u="none" strike="noStrike" cap="none" normalizeH="0" baseline="0" dirty="0">
                <a:ln>
                  <a:noFill/>
                </a:ln>
                <a:solidFill>
                  <a:schemeClr val="bg1"/>
                </a:solidFill>
                <a:effectLst/>
                <a:latin typeface="Arial" panose="020B0604020202020204" pitchFamily="34" charset="0"/>
              </a:rPr>
              <a:t>similar ROC–AUC and accuracy</a:t>
            </a:r>
            <a:r>
              <a:rPr kumimoji="0" lang="en-US" altLang="en-US" sz="1600" b="0" i="0" u="none" strike="noStrike" cap="none" normalizeH="0" baseline="0" dirty="0">
                <a:ln>
                  <a:noFill/>
                </a:ln>
                <a:solidFill>
                  <a:schemeClr val="bg1"/>
                </a:solidFill>
                <a:effectLst/>
                <a:latin typeface="Arial" panose="020B0604020202020204" pitchFamily="34" charset="0"/>
              </a:rPr>
              <a:t> to Random Forest and CSE, but it </a:t>
            </a:r>
            <a:r>
              <a:rPr kumimoji="0" lang="en-US" altLang="en-US" sz="1600" b="1" i="0" u="none" strike="noStrike" cap="none" normalizeH="0" baseline="0" dirty="0">
                <a:ln>
                  <a:noFill/>
                </a:ln>
                <a:solidFill>
                  <a:schemeClr val="bg1"/>
                </a:solidFill>
                <a:effectLst/>
                <a:latin typeface="Arial" panose="020B0604020202020204" pitchFamily="34" charset="0"/>
              </a:rPr>
              <a:t>almost never predicts “delayed”</a:t>
            </a:r>
            <a:r>
              <a:rPr kumimoji="0" lang="en-US" altLang="en-US" sz="1600" b="0" i="0" u="none" strike="noStrike" cap="none" normalizeH="0" baseline="0" dirty="0">
                <a:ln>
                  <a:noFill/>
                </a:ln>
                <a:solidFill>
                  <a:schemeClr val="bg1"/>
                </a:solidFill>
                <a:effectLst/>
                <a:latin typeface="Arial" panose="020B0604020202020204" pitchFamily="34" charset="0"/>
              </a:rPr>
              <a:t>, leading to very low recall and F1</a:t>
            </a:r>
          </a:p>
        </p:txBody>
      </p:sp>
    </p:spTree>
    <p:extLst>
      <p:ext uri="{BB962C8B-B14F-4D97-AF65-F5344CB8AC3E}">
        <p14:creationId xmlns:p14="http://schemas.microsoft.com/office/powerpoint/2010/main" val="528918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FF9C2-6F94-BEB1-C579-3604FC09FD30}"/>
              </a:ext>
            </a:extLst>
          </p:cNvPr>
          <p:cNvSpPr>
            <a:spLocks noGrp="1"/>
          </p:cNvSpPr>
          <p:nvPr>
            <p:ph type="title"/>
          </p:nvPr>
        </p:nvSpPr>
        <p:spPr>
          <a:xfrm>
            <a:off x="436756" y="264765"/>
            <a:ext cx="10515600" cy="593880"/>
          </a:xfrm>
        </p:spPr>
        <p:txBody>
          <a:bodyPr>
            <a:normAutofit/>
          </a:bodyPr>
          <a:lstStyle/>
          <a:p>
            <a:r>
              <a:rPr lang="en-US" sz="3200" b="1" dirty="0">
                <a:solidFill>
                  <a:schemeClr val="bg1"/>
                </a:solidFill>
              </a:rPr>
              <a:t>Confusion Matrices and Error Analysis</a:t>
            </a:r>
          </a:p>
        </p:txBody>
      </p:sp>
      <p:sp>
        <p:nvSpPr>
          <p:cNvPr id="3" name="Rectangle 1">
            <a:extLst>
              <a:ext uri="{FF2B5EF4-FFF2-40B4-BE49-F238E27FC236}">
                <a16:creationId xmlns:a16="http://schemas.microsoft.com/office/drawing/2014/main" id="{3B0455F8-01F4-1A97-9F1B-7649B1432D13}"/>
              </a:ext>
            </a:extLst>
          </p:cNvPr>
          <p:cNvSpPr>
            <a:spLocks noChangeArrowheads="1"/>
          </p:cNvSpPr>
          <p:nvPr/>
        </p:nvSpPr>
        <p:spPr bwMode="auto">
          <a:xfrm>
            <a:off x="867140" y="1298354"/>
            <a:ext cx="705766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bg1"/>
                </a:solidFill>
                <a:effectLst/>
                <a:latin typeface="Arial" panose="020B0604020202020204" pitchFamily="34" charset="0"/>
              </a:rPr>
              <a:t>We plotted confusion matrices for both the global Random Forest and the Cluster-Specific Ensemble (CSE) on the test set.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bg1"/>
                </a:solidFill>
                <a:effectLst/>
                <a:latin typeface="Arial" panose="020B0604020202020204" pitchFamily="34" charset="0"/>
              </a:rPr>
              <a:t>In both models, the majority of on-time flights are correctly classified as on time (true negatives).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bg1"/>
                </a:solidFill>
                <a:effectLst/>
                <a:latin typeface="Arial" panose="020B0604020202020204" pitchFamily="34" charset="0"/>
              </a:rPr>
              <a:t>Both models also correctly identify a reasonable number of delayed flights (true positives), but some delayed flights are still missed and predicted as on time (false negatives).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bg1"/>
                </a:solidFill>
                <a:effectLst/>
                <a:latin typeface="Arial" panose="020B0604020202020204" pitchFamily="34" charset="0"/>
              </a:rPr>
              <a:t>The confusion matrices show a trade-off between catching more delays and avoiding false alarms, with CSE and the global Random Forest making very similar types of errors overall.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bg1"/>
                </a:solidFill>
                <a:effectLst/>
                <a:latin typeface="Arial" panose="020B0604020202020204" pitchFamily="34" charset="0"/>
              </a:rPr>
              <a:t>This error pattern supports our metric results: the CSE behaves similarly to the global Random Forest rather than clearly outperforming it.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solidFill>
                <a:schemeClr val="bg1"/>
              </a:solidFill>
              <a:latin typeface="Arial" panose="020B0604020202020204" pitchFamily="34" charset="0"/>
            </a:endParaRPr>
          </a:p>
          <a:p>
            <a:pPr lvl="0" eaLnBrk="0" fontAlgn="base" hangingPunct="0">
              <a:spcBef>
                <a:spcPct val="0"/>
              </a:spcBef>
              <a:spcAft>
                <a:spcPct val="0"/>
              </a:spcAft>
              <a:buFontTx/>
              <a:buChar char="•"/>
            </a:pPr>
            <a:r>
              <a:rPr lang="en-US" sz="1600" dirty="0">
                <a:solidFill>
                  <a:schemeClr val="bg1"/>
                </a:solidFill>
              </a:rPr>
              <a:t>The LSTM confusion matrix (not shown) is dominated by true negatives and very few true positives, consistent with its low recall: it rarely predicts ‘delayed</a:t>
            </a:r>
            <a:endParaRPr kumimoji="0" lang="en-US" altLang="en-US" sz="1600" i="0" u="none" strike="noStrike" cap="none" normalizeH="0" baseline="0" dirty="0">
              <a:ln>
                <a:noFill/>
              </a:ln>
              <a:solidFill>
                <a:schemeClr val="bg1"/>
              </a:solidFill>
              <a:effectLst/>
              <a:latin typeface="Arial" panose="020B0604020202020204" pitchFamily="34" charset="0"/>
            </a:endParaRPr>
          </a:p>
        </p:txBody>
      </p:sp>
      <p:pic>
        <p:nvPicPr>
          <p:cNvPr id="12291" name="Picture 3">
            <a:extLst>
              <a:ext uri="{FF2B5EF4-FFF2-40B4-BE49-F238E27FC236}">
                <a16:creationId xmlns:a16="http://schemas.microsoft.com/office/drawing/2014/main" id="{7ACE4D4B-D35E-00B9-3584-446B5C7821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1842" y="450699"/>
            <a:ext cx="3192168" cy="2978301"/>
          </a:xfrm>
          <a:prstGeom prst="rect">
            <a:avLst/>
          </a:prstGeom>
          <a:noFill/>
          <a:extLst>
            <a:ext uri="{909E8E84-426E-40DD-AFC4-6F175D3DCCD1}">
              <a14:hiddenFill xmlns:a14="http://schemas.microsoft.com/office/drawing/2010/main">
                <a:solidFill>
                  <a:srgbClr val="FFFFFF"/>
                </a:solidFill>
              </a14:hiddenFill>
            </a:ext>
          </a:extLst>
        </p:spPr>
      </p:pic>
      <p:pic>
        <p:nvPicPr>
          <p:cNvPr id="12295" name="Picture 7">
            <a:extLst>
              <a:ext uri="{FF2B5EF4-FFF2-40B4-BE49-F238E27FC236}">
                <a16:creationId xmlns:a16="http://schemas.microsoft.com/office/drawing/2014/main" id="{7679D2E6-D7C1-5E52-0EC6-8C641985CF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366" y="3594486"/>
            <a:ext cx="3314834" cy="3094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673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768757-D80E-295C-6CC0-8906D8290115}"/>
              </a:ext>
            </a:extLst>
          </p:cNvPr>
          <p:cNvSpPr txBox="1"/>
          <p:nvPr/>
        </p:nvSpPr>
        <p:spPr>
          <a:xfrm>
            <a:off x="1426028" y="812171"/>
            <a:ext cx="10080171" cy="3600986"/>
          </a:xfrm>
          <a:prstGeom prst="rect">
            <a:avLst/>
          </a:prstGeom>
          <a:noFill/>
        </p:spPr>
        <p:txBody>
          <a:bodyPr wrap="square">
            <a:spAutoFit/>
          </a:bodyPr>
          <a:lstStyle/>
          <a:p>
            <a:pPr>
              <a:buFont typeface="Arial" panose="020B0604020202020204" pitchFamily="34" charset="0"/>
              <a:buChar char="•"/>
            </a:pPr>
            <a:r>
              <a:rPr lang="en-US" sz="1600" dirty="0">
                <a:solidFill>
                  <a:schemeClr val="bg1"/>
                </a:solidFill>
              </a:rPr>
              <a:t>We built a flight delay prediction system that uses only pre-departure information to predict whether a flight will be delayed by more than 15 minutes.</a:t>
            </a:r>
          </a:p>
          <a:p>
            <a:pPr>
              <a:buFont typeface="Arial" panose="020B0604020202020204" pitchFamily="34" charset="0"/>
              <a:buChar char="•"/>
            </a:pPr>
            <a:endParaRPr lang="en-US" sz="1600" dirty="0">
              <a:solidFill>
                <a:schemeClr val="bg1"/>
              </a:solidFill>
            </a:endParaRPr>
          </a:p>
          <a:p>
            <a:pPr>
              <a:buFont typeface="Arial" panose="020B0604020202020204" pitchFamily="34" charset="0"/>
              <a:buChar char="•"/>
            </a:pPr>
            <a:r>
              <a:rPr lang="en-US" sz="1600" dirty="0">
                <a:solidFill>
                  <a:schemeClr val="bg1"/>
                </a:solidFill>
              </a:rPr>
              <a:t>Among the global baseline models, the Random Forest achieved the best overall performance in terms of accuracy, F1 score, and ROC–AUC.</a:t>
            </a:r>
          </a:p>
          <a:p>
            <a:pPr>
              <a:buFont typeface="Arial" panose="020B0604020202020204" pitchFamily="34" charset="0"/>
              <a:buChar char="•"/>
            </a:pPr>
            <a:endParaRPr lang="en-US" sz="1600" dirty="0">
              <a:solidFill>
                <a:schemeClr val="bg1"/>
              </a:solidFill>
            </a:endParaRPr>
          </a:p>
          <a:p>
            <a:pPr>
              <a:buFont typeface="Arial" panose="020B0604020202020204" pitchFamily="34" charset="0"/>
              <a:buChar char="•"/>
            </a:pPr>
            <a:r>
              <a:rPr lang="en-US" sz="1600" dirty="0">
                <a:solidFill>
                  <a:schemeClr val="bg1"/>
                </a:solidFill>
              </a:rPr>
              <a:t>Our Cluster-Specific Ensemble (CSE), which clusters flights with k-means and trains a Random Forest in each cluster, achieved performance very similar to the global Random Forest.</a:t>
            </a:r>
          </a:p>
          <a:p>
            <a:pPr>
              <a:buFont typeface="Arial" panose="020B0604020202020204" pitchFamily="34" charset="0"/>
              <a:buChar char="•"/>
            </a:pPr>
            <a:endParaRPr lang="en-US" sz="1600" dirty="0">
              <a:solidFill>
                <a:schemeClr val="bg1"/>
              </a:solidFill>
            </a:endParaRPr>
          </a:p>
          <a:p>
            <a:pPr>
              <a:buFont typeface="Arial" panose="020B0604020202020204" pitchFamily="34" charset="0"/>
              <a:buChar char="•"/>
            </a:pPr>
            <a:r>
              <a:rPr lang="en-US" sz="1600" dirty="0">
                <a:solidFill>
                  <a:schemeClr val="bg1"/>
                </a:solidFill>
              </a:rPr>
              <a:t>This suggests that clustering on basic time and distance features alone does not provide a large improvement over a strong global model, but cluster-specific models can at least match global performance.</a:t>
            </a:r>
          </a:p>
          <a:p>
            <a:pPr>
              <a:buFont typeface="Arial" panose="020B0604020202020204" pitchFamily="34" charset="0"/>
              <a:buChar char="•"/>
            </a:pPr>
            <a:endParaRPr lang="en-US" sz="1600" dirty="0">
              <a:solidFill>
                <a:schemeClr val="bg1"/>
              </a:solidFill>
            </a:endParaRPr>
          </a:p>
          <a:p>
            <a:pPr>
              <a:buFont typeface="Arial" panose="020B0604020202020204" pitchFamily="34" charset="0"/>
              <a:buChar char="•"/>
            </a:pPr>
            <a:r>
              <a:rPr lang="en-US" sz="1600" dirty="0">
                <a:solidFill>
                  <a:schemeClr val="bg1"/>
                </a:solidFill>
              </a:rPr>
              <a:t>The additional LSTM experiment confirmed that a simple deep-learning model does not outperform our tree-based approaches on this tabular, imbalanced dataset.</a:t>
            </a:r>
          </a:p>
        </p:txBody>
      </p:sp>
      <p:sp>
        <p:nvSpPr>
          <p:cNvPr id="5" name="TextBox 4">
            <a:extLst>
              <a:ext uri="{FF2B5EF4-FFF2-40B4-BE49-F238E27FC236}">
                <a16:creationId xmlns:a16="http://schemas.microsoft.com/office/drawing/2014/main" id="{30965D28-F415-0850-6920-34E01BFC089E}"/>
              </a:ext>
            </a:extLst>
          </p:cNvPr>
          <p:cNvSpPr txBox="1"/>
          <p:nvPr/>
        </p:nvSpPr>
        <p:spPr>
          <a:xfrm>
            <a:off x="402770" y="227396"/>
            <a:ext cx="6096000" cy="584775"/>
          </a:xfrm>
          <a:prstGeom prst="rect">
            <a:avLst/>
          </a:prstGeom>
          <a:noFill/>
        </p:spPr>
        <p:txBody>
          <a:bodyPr wrap="square">
            <a:spAutoFit/>
          </a:bodyPr>
          <a:lstStyle/>
          <a:p>
            <a:pPr>
              <a:buNone/>
            </a:pPr>
            <a:r>
              <a:rPr lang="en-US" sz="3200" b="1" dirty="0">
                <a:solidFill>
                  <a:schemeClr val="bg1"/>
                </a:solidFill>
              </a:rPr>
              <a:t>Conclusion</a:t>
            </a:r>
          </a:p>
        </p:txBody>
      </p:sp>
      <p:sp>
        <p:nvSpPr>
          <p:cNvPr id="7" name="TextBox 6">
            <a:extLst>
              <a:ext uri="{FF2B5EF4-FFF2-40B4-BE49-F238E27FC236}">
                <a16:creationId xmlns:a16="http://schemas.microsoft.com/office/drawing/2014/main" id="{1C84D6B1-4DF6-FA05-3FB6-5CA09E081BCD}"/>
              </a:ext>
            </a:extLst>
          </p:cNvPr>
          <p:cNvSpPr txBox="1"/>
          <p:nvPr/>
        </p:nvSpPr>
        <p:spPr>
          <a:xfrm>
            <a:off x="1426028" y="4822644"/>
            <a:ext cx="10646229" cy="1815882"/>
          </a:xfrm>
          <a:prstGeom prst="rect">
            <a:avLst/>
          </a:prstGeom>
          <a:noFill/>
        </p:spPr>
        <p:txBody>
          <a:bodyPr wrap="square">
            <a:spAutoFit/>
          </a:bodyPr>
          <a:lstStyle/>
          <a:p>
            <a:r>
              <a:rPr lang="en-US" sz="1600" dirty="0">
                <a:solidFill>
                  <a:schemeClr val="bg1"/>
                </a:solidFill>
              </a:rPr>
              <a:t>Add richer features such as weather, holidays, and airport congestion and test whether they improve both clustering and prediction.</a:t>
            </a:r>
          </a:p>
          <a:p>
            <a:r>
              <a:rPr lang="en-US" sz="1600" dirty="0">
                <a:solidFill>
                  <a:schemeClr val="bg1"/>
                </a:solidFill>
              </a:rPr>
              <a:t>Explore other clustering strategies and different model types within clusters (e.g., gradient boosting or </a:t>
            </a:r>
            <a:r>
              <a:rPr lang="en-US" sz="1600" dirty="0" err="1">
                <a:solidFill>
                  <a:schemeClr val="bg1"/>
                </a:solidFill>
              </a:rPr>
              <a:t>XGBoost</a:t>
            </a:r>
            <a:r>
              <a:rPr lang="en-US" sz="1600" dirty="0">
                <a:solidFill>
                  <a:schemeClr val="bg1"/>
                </a:solidFill>
              </a:rPr>
              <a:t>).</a:t>
            </a:r>
          </a:p>
          <a:p>
            <a:r>
              <a:rPr lang="en-US" sz="1600" dirty="0">
                <a:solidFill>
                  <a:schemeClr val="bg1"/>
                </a:solidFill>
              </a:rPr>
              <a:t>Perform more extensive hyperparameter tuning on the most promising models to see if performance can be further improved.</a:t>
            </a:r>
          </a:p>
          <a:p>
            <a:r>
              <a:rPr lang="en-US" sz="1600" dirty="0">
                <a:solidFill>
                  <a:schemeClr val="bg1"/>
                </a:solidFill>
              </a:rPr>
              <a:t>Explore more advanced deep-learning or sequence-based models (e.g., LSTMs or transformers on true time-series of historical delays per route) using richer temporal features</a:t>
            </a:r>
          </a:p>
        </p:txBody>
      </p:sp>
      <p:sp>
        <p:nvSpPr>
          <p:cNvPr id="9" name="TextBox 8">
            <a:extLst>
              <a:ext uri="{FF2B5EF4-FFF2-40B4-BE49-F238E27FC236}">
                <a16:creationId xmlns:a16="http://schemas.microsoft.com/office/drawing/2014/main" id="{0A8C027C-8EB1-EDDA-AA29-3026CB79B18E}"/>
              </a:ext>
            </a:extLst>
          </p:cNvPr>
          <p:cNvSpPr txBox="1"/>
          <p:nvPr/>
        </p:nvSpPr>
        <p:spPr>
          <a:xfrm>
            <a:off x="533401" y="4237869"/>
            <a:ext cx="6096000" cy="584775"/>
          </a:xfrm>
          <a:prstGeom prst="rect">
            <a:avLst/>
          </a:prstGeom>
          <a:noFill/>
        </p:spPr>
        <p:txBody>
          <a:bodyPr wrap="square">
            <a:spAutoFit/>
          </a:bodyPr>
          <a:lstStyle/>
          <a:p>
            <a:r>
              <a:rPr lang="en-US" sz="3200" b="1" dirty="0">
                <a:solidFill>
                  <a:schemeClr val="bg1"/>
                </a:solidFill>
              </a:rPr>
              <a:t>Future Work</a:t>
            </a:r>
            <a:endParaRPr lang="en-US" sz="3200" dirty="0"/>
          </a:p>
        </p:txBody>
      </p:sp>
    </p:spTree>
    <p:extLst>
      <p:ext uri="{BB962C8B-B14F-4D97-AF65-F5344CB8AC3E}">
        <p14:creationId xmlns:p14="http://schemas.microsoft.com/office/powerpoint/2010/main" val="2116123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201B7E-6810-E98E-15D8-FB8BCDE725CB}"/>
              </a:ext>
            </a:extLst>
          </p:cNvPr>
          <p:cNvSpPr txBox="1"/>
          <p:nvPr/>
        </p:nvSpPr>
        <p:spPr>
          <a:xfrm>
            <a:off x="5529943" y="3505200"/>
            <a:ext cx="2419060" cy="707886"/>
          </a:xfrm>
          <a:prstGeom prst="rect">
            <a:avLst/>
          </a:prstGeom>
          <a:noFill/>
        </p:spPr>
        <p:txBody>
          <a:bodyPr wrap="none" rtlCol="0">
            <a:spAutoFit/>
          </a:bodyPr>
          <a:lstStyle/>
          <a:p>
            <a:r>
              <a:rPr lang="en-US" sz="4000" dirty="0">
                <a:solidFill>
                  <a:schemeClr val="bg1"/>
                </a:solidFill>
              </a:rPr>
              <a:t>Thank you</a:t>
            </a:r>
          </a:p>
        </p:txBody>
      </p:sp>
    </p:spTree>
    <p:extLst>
      <p:ext uri="{BB962C8B-B14F-4D97-AF65-F5344CB8AC3E}">
        <p14:creationId xmlns:p14="http://schemas.microsoft.com/office/powerpoint/2010/main" val="957183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278</TotalTime>
  <Words>3983</Words>
  <Application>Microsoft Office PowerPoint</Application>
  <PresentationFormat>Widescreen</PresentationFormat>
  <Paragraphs>176</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Courier New</vt:lpstr>
      <vt:lpstr>Wingdings</vt:lpstr>
      <vt:lpstr>Office Theme</vt:lpstr>
      <vt:lpstr>      Flight Delay Prediction Using Cluster-Specific Ensemble Models       Classical ML, Cluster-Specific Ensemble, and LSTM</vt:lpstr>
      <vt:lpstr>PowerPoint Presentation</vt:lpstr>
      <vt:lpstr>Problem Statement</vt:lpstr>
      <vt:lpstr>PowerPoint Presentation</vt:lpstr>
      <vt:lpstr>PowerPoint Presentation</vt:lpstr>
      <vt:lpstr>PowerPoint Presentation</vt:lpstr>
      <vt:lpstr>Preprocessing and Data Split </vt:lpstr>
      <vt:lpstr>PowerPoint Presentation</vt:lpstr>
      <vt:lpstr>PowerPoint Presentation</vt:lpstr>
      <vt:lpstr>Evaluation Setup and Metrics</vt:lpstr>
      <vt:lpstr>Results :- Global Models vs CSE</vt:lpstr>
      <vt:lpstr>PowerPoint Presentation</vt:lpstr>
      <vt:lpstr>LSTM Model</vt:lpstr>
      <vt:lpstr>Confusion Matrices and Error Analysis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Dontheboina, Lavanya</dc:creator>
  <cp:lastModifiedBy>Dontheboina, Lavanya</cp:lastModifiedBy>
  <cp:revision>8</cp:revision>
  <dcterms:created xsi:type="dcterms:W3CDTF">2025-11-29T00:48:07Z</dcterms:created>
  <dcterms:modified xsi:type="dcterms:W3CDTF">2025-12-02T16:56:28Z</dcterms:modified>
</cp:coreProperties>
</file>